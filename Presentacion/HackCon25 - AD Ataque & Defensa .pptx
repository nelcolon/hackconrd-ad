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36"/>
  </p:notesMasterIdLst>
  <p:sldIdLst>
    <p:sldId id="256" r:id="rId5"/>
    <p:sldId id="289" r:id="rId6"/>
    <p:sldId id="257" r:id="rId7"/>
    <p:sldId id="258" r:id="rId8"/>
    <p:sldId id="264" r:id="rId9"/>
    <p:sldId id="260" r:id="rId10"/>
    <p:sldId id="263" r:id="rId11"/>
    <p:sldId id="265" r:id="rId12"/>
    <p:sldId id="261" r:id="rId13"/>
    <p:sldId id="266" r:id="rId14"/>
    <p:sldId id="267" r:id="rId15"/>
    <p:sldId id="268" r:id="rId16"/>
    <p:sldId id="270" r:id="rId17"/>
    <p:sldId id="272" r:id="rId18"/>
    <p:sldId id="273" r:id="rId19"/>
    <p:sldId id="269" r:id="rId20"/>
    <p:sldId id="274" r:id="rId21"/>
    <p:sldId id="275" r:id="rId22"/>
    <p:sldId id="276" r:id="rId23"/>
    <p:sldId id="277" r:id="rId24"/>
    <p:sldId id="278" r:id="rId25"/>
    <p:sldId id="279" r:id="rId26"/>
    <p:sldId id="281" r:id="rId27"/>
    <p:sldId id="280" r:id="rId28"/>
    <p:sldId id="282" r:id="rId29"/>
    <p:sldId id="283" r:id="rId30"/>
    <p:sldId id="285" r:id="rId31"/>
    <p:sldId id="284" r:id="rId32"/>
    <p:sldId id="286" r:id="rId33"/>
    <p:sldId id="288" r:id="rId34"/>
    <p:sldId id="290" r:id="rId35"/>
  </p:sldIdLst>
  <p:sldSz cx="9144000" cy="5143500" type="screen16x9"/>
  <p:notesSz cx="6858000" cy="9144000"/>
  <p:embeddedFontLst>
    <p:embeddedFont>
      <p:font typeface="Montserrat" panose="00000500000000000000" pitchFamily="2" charset="0"/>
      <p:regular r:id="rId37"/>
      <p:bold r:id="rId38"/>
      <p:italic r:id="rId39"/>
      <p:boldItalic r:id="rId40"/>
    </p:embeddedFont>
    <p:embeddedFont>
      <p:font typeface="Montserrat ExtraBold" panose="00000900000000000000" pitchFamily="2" charset="0"/>
      <p:bold r:id="rId41"/>
      <p:boldItalic r:id="rId42"/>
    </p:embeddedFont>
    <p:embeddedFont>
      <p:font typeface="Montserrat Light" panose="00000400000000000000" pitchFamily="2" charset="0"/>
      <p:regular r:id="rId43"/>
      <p:bold r:id="rId44"/>
      <p:italic r:id="rId45"/>
      <p:boldItalic r:id="rId46"/>
    </p:embeddedFont>
    <p:embeddedFont>
      <p:font typeface="Montserrat Medium" panose="000006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8" d="100"/>
          <a:sy n="158" d="100"/>
        </p:scale>
        <p:origin x="586" y="33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8.fntdata"/><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6.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49"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F065F187-BFBE-E734-50C2-042E8F1C9160}"/>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7C755214-1FB0-540F-5C9A-4D772CEA5F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37730E26-21E8-1F11-4EA4-253C8AAC20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2068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1e569a6a4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e569a6a4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1e569a6a4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DB8039B7-C095-7FD8-06F2-78829A2747AB}"/>
            </a:ext>
          </a:extLst>
        </p:cNvPr>
        <p:cNvGrpSpPr/>
        <p:nvPr/>
      </p:nvGrpSpPr>
      <p:grpSpPr>
        <a:xfrm>
          <a:off x="0" y="0"/>
          <a:ext cx="0" cy="0"/>
          <a:chOff x="0" y="0"/>
          <a:chExt cx="0" cy="0"/>
        </a:xfrm>
      </p:grpSpPr>
      <p:sp>
        <p:nvSpPr>
          <p:cNvPr id="68" name="Google Shape;68;g31e569a6a4d_0_13:notes">
            <a:extLst>
              <a:ext uri="{FF2B5EF4-FFF2-40B4-BE49-F238E27FC236}">
                <a16:creationId xmlns:a16="http://schemas.microsoft.com/office/drawing/2014/main" id="{E767E0E5-9447-6FC8-0B16-A34BB611E7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1e569a6a4d_0_13:notes">
            <a:extLst>
              <a:ext uri="{FF2B5EF4-FFF2-40B4-BE49-F238E27FC236}">
                <a16:creationId xmlns:a16="http://schemas.microsoft.com/office/drawing/2014/main" id="{5030629D-6CBD-E326-9583-1EEF45B3EB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7372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35291677-AD80-EA53-A1CC-9005A6D42F6F}"/>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E689C724-B601-7140-E14F-29C904538C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54689C31-12E9-397B-48C6-79874166F2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4092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28906A33-0BC2-A50C-941F-B736A8930BF5}"/>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44E090F8-6B3C-0841-DB92-8AE5045351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7FE244F8-B1C0-9177-6EB9-8BF23293D2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9153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7C6D75E5-4232-A442-C68E-211BE2586318}"/>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1E062962-94E0-EAF6-FFF7-AAD7EA977C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57CFA43E-86D5-6F55-74E7-1FDBAFC02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8072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D20CA135-894E-5561-40AB-9C7154FB9F55}"/>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EA0CD610-4D30-1727-9B35-BEE0599F63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C1ECB950-A3EF-C532-965C-831EBB0009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9317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25049961-837F-0087-E7A8-4FD59DC70A73}"/>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88B48C22-2B3F-3100-6706-F4AC8CB484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C03389B2-BB88-726D-3C55-33F9980832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5771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1C46F5AB-35F4-C617-0CAB-FFC33311EDA2}"/>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95DCF9A3-FDC3-F5CF-87CB-5C4EAA0D2B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FC48713F-2F58-21C2-1ADB-441E77B708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9910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AB3EDDC6-C443-0681-8521-A19950681687}"/>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E2971AE3-9F17-C335-DB72-056558B136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37BEA82F-D70F-C464-BBEA-CB0C4B508C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8482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518E00F0-46DF-75C9-A01B-0746D6F66961}"/>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0586101F-561D-247F-964C-999CEAB905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DCCE499C-05A5-63BE-F795-C67FA41BE8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5111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638AFFB7-6F39-3E85-D6B3-E207C1234B3E}"/>
            </a:ext>
          </a:extLst>
        </p:cNvPr>
        <p:cNvGrpSpPr/>
        <p:nvPr/>
      </p:nvGrpSpPr>
      <p:grpSpPr>
        <a:xfrm>
          <a:off x="0" y="0"/>
          <a:ext cx="0" cy="0"/>
          <a:chOff x="0" y="0"/>
          <a:chExt cx="0" cy="0"/>
        </a:xfrm>
      </p:grpSpPr>
      <p:sp>
        <p:nvSpPr>
          <p:cNvPr id="68" name="Google Shape;68;g31e569a6a4d_0_13:notes">
            <a:extLst>
              <a:ext uri="{FF2B5EF4-FFF2-40B4-BE49-F238E27FC236}">
                <a16:creationId xmlns:a16="http://schemas.microsoft.com/office/drawing/2014/main" id="{CE0D2137-D557-132A-8C69-77F0B47814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1e569a6a4d_0_13:notes">
            <a:extLst>
              <a:ext uri="{FF2B5EF4-FFF2-40B4-BE49-F238E27FC236}">
                <a16:creationId xmlns:a16="http://schemas.microsoft.com/office/drawing/2014/main" id="{388AF77D-4233-08C6-8E6B-9DE6590188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2851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39310D10-BD50-7983-619C-72499986FA55}"/>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A8D7B571-77DD-08E6-2C93-C7AF08E919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3BB8F3D0-7E62-9DAE-B15E-D489475F96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016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B4EB2B25-4DCE-6C20-452C-9BB248475DB1}"/>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255CBF89-01E1-2B8D-DE10-655ADDCBF1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070BCDF6-9B58-3E5B-361B-3B7D29FE1C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65797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DE1B735D-D9FC-7AD1-BC49-7D4403A1E100}"/>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F4A03E93-D3C9-187F-534C-D0FB5E9329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8FE08429-B700-7561-20F8-277EC40968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4801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8299CDB9-D045-8941-1DEC-F4A10AD2E5E3}"/>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1CF8B966-1B29-7568-4DEC-3F67A68F7A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55E98AB3-704A-516E-BDEC-CE4373F64C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8512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F3BC44F8-D047-7728-2F4D-AE8A4071C38F}"/>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BCED3A9E-14A2-FB39-0D8C-2C2190BC84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9DA778DD-BD45-9333-1E14-37468F2EED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66513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540207B1-58BE-CBC4-6546-BE3C79324A50}"/>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B1F08289-5AE0-986F-6005-134A4CA38B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29AD9BAA-238A-901D-C585-A38EF315E8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89548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523D2F1B-8CC0-C899-FF76-5AEC01E7BACD}"/>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13CCE50B-C524-00A8-4B4B-932D31EE36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DAC40C5D-9CF0-E601-5929-8B34136846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9872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9B464F9D-A044-54F1-2BB1-DAA02370738E}"/>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B9234295-8D50-44C7-D7DC-571C62F81B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0629EC78-9E40-7101-E05B-D4F7412F00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4350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7E106BBA-F04F-E280-4160-8B7D241955D4}"/>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FC8680E2-0BD3-9F37-C083-5FBEAF283C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DB26EE66-C61C-85F2-2498-460306C528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3156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9DD7F2DA-9045-F59C-443D-6F6EB4637418}"/>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EFCD1235-14E2-F857-B4D8-64DF6F7D90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CD22A069-2EE0-4FDA-387E-65880D08CE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83987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18B7FF05-0721-C1BA-C899-818B92FC8398}"/>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AC6051E0-6913-A2C6-5D9F-EC87323EEE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56DCC035-73D5-D1DE-C146-0173B078E5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0288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618057E9-C9FD-5455-A235-48A1A79192C3}"/>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A587390B-BC52-0C0C-731D-EA284CD7DE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E67E982A-6736-8D8E-3522-6D00B2B124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79257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7325CC20-AF76-BB2A-E3B5-A60D13EA866C}"/>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FFACC67C-FE1E-109F-0A99-2EB9139AA5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E00162FF-D44B-905A-0636-01ADD2E19F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69669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BC68B1A8-68F9-D8F5-B971-56AA82A3E096}"/>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ED9B6182-3175-A421-F48E-36E61C2B23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001C3533-CEB4-AEA1-7E6D-BAC6B9E8B1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997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1DCF5B5C-44EF-DB12-AC37-3D27D2DF0CD9}"/>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865F81B7-9132-448D-F35A-CFC8024336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2874251B-3939-1FA3-1436-BB8B24C8B7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62058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893DA4DD-8733-B034-8DC8-9F1EA310DA9F}"/>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352695E6-6769-F67D-6067-682A44BE55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0320485D-4A77-AF29-A527-6B3D85D082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84788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8C77D2DF-A1B7-1ECD-4B1D-770E63BF11BC}"/>
            </a:ext>
          </a:extLst>
        </p:cNvPr>
        <p:cNvGrpSpPr/>
        <p:nvPr/>
      </p:nvGrpSpPr>
      <p:grpSpPr>
        <a:xfrm>
          <a:off x="0" y="0"/>
          <a:ext cx="0" cy="0"/>
          <a:chOff x="0" y="0"/>
          <a:chExt cx="0" cy="0"/>
        </a:xfrm>
      </p:grpSpPr>
      <p:sp>
        <p:nvSpPr>
          <p:cNvPr id="61" name="Google Shape;61;g31e569a6a4d_0_3:notes">
            <a:extLst>
              <a:ext uri="{FF2B5EF4-FFF2-40B4-BE49-F238E27FC236}">
                <a16:creationId xmlns:a16="http://schemas.microsoft.com/office/drawing/2014/main" id="{EAF592A0-9278-8745-B2A4-3C02DBB675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1e569a6a4d_0_3:notes">
            <a:extLst>
              <a:ext uri="{FF2B5EF4-FFF2-40B4-BE49-F238E27FC236}">
                <a16:creationId xmlns:a16="http://schemas.microsoft.com/office/drawing/2014/main" id="{FFB1165B-4DED-4C52-822D-658BF76F46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8910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7.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8.jp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9.jp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788025" y="938675"/>
            <a:ext cx="4233000" cy="1858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sz="2500" dirty="0" err="1">
                <a:solidFill>
                  <a:schemeClr val="lt1"/>
                </a:solidFill>
                <a:latin typeface="Montserrat ExtraBold"/>
                <a:ea typeface="Montserrat ExtraBold"/>
                <a:cs typeface="Montserrat ExtraBold"/>
                <a:sym typeface="Montserrat ExtraBold"/>
              </a:rPr>
              <a:t>Atacando</a:t>
            </a:r>
            <a:r>
              <a:rPr lang="en-US" sz="2500" dirty="0">
                <a:solidFill>
                  <a:schemeClr val="lt1"/>
                </a:solidFill>
                <a:latin typeface="Montserrat ExtraBold"/>
                <a:ea typeface="Montserrat ExtraBold"/>
                <a:cs typeface="Montserrat ExtraBold"/>
                <a:sym typeface="Montserrat ExtraBold"/>
              </a:rPr>
              <a:t> &amp; </a:t>
            </a:r>
            <a:r>
              <a:rPr lang="en-US" sz="2500" dirty="0" err="1">
                <a:solidFill>
                  <a:schemeClr val="lt1"/>
                </a:solidFill>
                <a:latin typeface="Montserrat ExtraBold"/>
                <a:ea typeface="Montserrat ExtraBold"/>
                <a:cs typeface="Montserrat ExtraBold"/>
                <a:sym typeface="Montserrat ExtraBold"/>
              </a:rPr>
              <a:t>Defendiendo</a:t>
            </a:r>
            <a:r>
              <a:rPr lang="en-US" sz="2500" dirty="0">
                <a:solidFill>
                  <a:schemeClr val="lt1"/>
                </a:solidFill>
                <a:latin typeface="Montserrat ExtraBold"/>
                <a:ea typeface="Montserrat ExtraBold"/>
                <a:cs typeface="Montserrat ExtraBold"/>
                <a:sym typeface="Montserrat ExtraBold"/>
              </a:rPr>
              <a:t> Windows Active Directory </a:t>
            </a:r>
          </a:p>
        </p:txBody>
      </p:sp>
      <p:sp>
        <p:nvSpPr>
          <p:cNvPr id="55" name="Google Shape;55;p13"/>
          <p:cNvSpPr txBox="1">
            <a:spLocks noGrp="1"/>
          </p:cNvSpPr>
          <p:nvPr>
            <p:ph type="subTitle" idx="1"/>
          </p:nvPr>
        </p:nvSpPr>
        <p:spPr>
          <a:xfrm>
            <a:off x="788025" y="2834125"/>
            <a:ext cx="3849600" cy="4473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 sz="1500" dirty="0">
                <a:solidFill>
                  <a:schemeClr val="lt1"/>
                </a:solidFill>
                <a:latin typeface="Montserrat"/>
                <a:ea typeface="Montserrat"/>
                <a:cs typeface="Montserrat"/>
                <a:sym typeface="Montserrat"/>
              </a:rPr>
              <a:t>Nelson Colon</a:t>
            </a:r>
            <a:endParaRPr sz="1500" dirty="0">
              <a:solidFill>
                <a:schemeClr val="lt1"/>
              </a:solidFill>
              <a:latin typeface="Montserrat"/>
              <a:ea typeface="Montserrat"/>
              <a:cs typeface="Montserrat"/>
              <a:sym typeface="Montserrat"/>
            </a:endParaRPr>
          </a:p>
        </p:txBody>
      </p:sp>
      <p:sp>
        <p:nvSpPr>
          <p:cNvPr id="56" name="Google Shape;56;p13"/>
          <p:cNvSpPr txBox="1">
            <a:spLocks noGrp="1"/>
          </p:cNvSpPr>
          <p:nvPr>
            <p:ph type="subTitle" idx="1"/>
          </p:nvPr>
        </p:nvSpPr>
        <p:spPr>
          <a:xfrm>
            <a:off x="788025" y="3355950"/>
            <a:ext cx="3849600" cy="447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sz="900" i="1" dirty="0">
                <a:solidFill>
                  <a:schemeClr val="lt1"/>
                </a:solidFill>
                <a:latin typeface="Montserrat Light"/>
                <a:ea typeface="Microsoft Sans Serif" panose="020B0604020202020204" pitchFamily="34" charset="0"/>
                <a:cs typeface="Microsoft Sans Serif" panose="020B0604020202020204" pitchFamily="34" charset="0"/>
                <a:sym typeface="Montserrat Light"/>
              </a:rPr>
              <a:t>Security Engineer @ Bitso</a:t>
            </a:r>
          </a:p>
          <a:p>
            <a:pPr marL="0" lvl="0" indent="0" algn="l" rtl="0">
              <a:spcBef>
                <a:spcPts val="0"/>
              </a:spcBef>
              <a:spcAft>
                <a:spcPts val="0"/>
              </a:spcAft>
              <a:buNone/>
            </a:pPr>
            <a:r>
              <a:rPr lang="en-US" sz="900" i="1" dirty="0">
                <a:solidFill>
                  <a:schemeClr val="lt1"/>
                </a:solidFill>
                <a:latin typeface="Montserrat Light"/>
                <a:ea typeface="Microsoft Sans Serif" panose="020B0604020202020204" pitchFamily="34" charset="0"/>
                <a:cs typeface="Microsoft Sans Serif" panose="020B0604020202020204" pitchFamily="34" charset="0"/>
                <a:sym typeface="Montserrat Light"/>
              </a:rPr>
              <a:t>Owner @ </a:t>
            </a:r>
            <a:r>
              <a:rPr lang="en-US" sz="900" i="1" dirty="0" err="1">
                <a:solidFill>
                  <a:schemeClr val="lt1"/>
                </a:solidFill>
                <a:latin typeface="Montserrat Light"/>
                <a:ea typeface="Microsoft Sans Serif" panose="020B0604020202020204" pitchFamily="34" charset="0"/>
                <a:cs typeface="Microsoft Sans Serif" panose="020B0604020202020204" pitchFamily="34" charset="0"/>
                <a:sym typeface="Montserrat Light"/>
              </a:rPr>
              <a:t>Divilight</a:t>
            </a:r>
            <a:endParaRPr lang="en-US" sz="900" i="1" dirty="0">
              <a:solidFill>
                <a:schemeClr val="lt1"/>
              </a:solidFill>
              <a:latin typeface="Montserrat Light"/>
              <a:ea typeface="Microsoft Sans Serif" panose="020B0604020202020204" pitchFamily="34" charset="0"/>
              <a:cs typeface="Microsoft Sans Serif" panose="020B0604020202020204" pitchFamily="34" charset="0"/>
              <a:sym typeface="Montserrat Light"/>
            </a:endParaRPr>
          </a:p>
          <a:p>
            <a:pPr marL="0" indent="0" algn="l"/>
            <a:r>
              <a:rPr lang="en-US" sz="900" i="1" dirty="0">
                <a:solidFill>
                  <a:schemeClr val="lt1"/>
                </a:solidFill>
                <a:latin typeface="Montserrat Light"/>
                <a:ea typeface="Microsoft Sans Serif" panose="020B0604020202020204" pitchFamily="34" charset="0"/>
                <a:cs typeface="Microsoft Sans Serif" panose="020B0604020202020204" pitchFamily="34" charset="0"/>
                <a:sym typeface="Montserrat Light"/>
              </a:rPr>
              <a:t>Co-Owner @ </a:t>
            </a:r>
            <a:r>
              <a:rPr lang="en-US" sz="900" i="1" dirty="0" err="1">
                <a:solidFill>
                  <a:schemeClr val="lt1"/>
                </a:solidFill>
                <a:latin typeface="Montserrat Light"/>
                <a:ea typeface="Microsoft Sans Serif" panose="020B0604020202020204" pitchFamily="34" charset="0"/>
                <a:cs typeface="Microsoft Sans Serif" panose="020B0604020202020204" pitchFamily="34" charset="0"/>
                <a:sym typeface="Montserrat Light"/>
              </a:rPr>
              <a:t>ARVision</a:t>
            </a:r>
            <a:endParaRPr lang="en-US" sz="900" i="1" dirty="0">
              <a:solidFill>
                <a:schemeClr val="lt1"/>
              </a:solidFill>
              <a:latin typeface="Montserrat Light"/>
              <a:ea typeface="Microsoft Sans Serif" panose="020B0604020202020204" pitchFamily="34" charset="0"/>
              <a:cs typeface="Microsoft Sans Serif" panose="020B0604020202020204" pitchFamily="34" charset="0"/>
              <a:sym typeface="Montserrat Light"/>
            </a:endParaRPr>
          </a:p>
        </p:txBody>
      </p:sp>
      <p:pic>
        <p:nvPicPr>
          <p:cNvPr id="59" name="Google Shape;59;p13"/>
          <p:cNvPicPr preferRelativeResize="0"/>
          <p:nvPr/>
        </p:nvPicPr>
        <p:blipFill>
          <a:blip r:embed="rId4">
            <a:alphaModFix/>
          </a:blip>
          <a:stretch>
            <a:fillRect/>
          </a:stretch>
        </p:blipFill>
        <p:spPr>
          <a:xfrm>
            <a:off x="8098601" y="4821796"/>
            <a:ext cx="906726" cy="203675"/>
          </a:xfrm>
          <a:prstGeom prst="rect">
            <a:avLst/>
          </a:prstGeom>
          <a:noFill/>
          <a:ln>
            <a:noFill/>
          </a:ln>
        </p:spPr>
      </p:pic>
      <p:grpSp>
        <p:nvGrpSpPr>
          <p:cNvPr id="5" name="Group 4">
            <a:extLst>
              <a:ext uri="{FF2B5EF4-FFF2-40B4-BE49-F238E27FC236}">
                <a16:creationId xmlns:a16="http://schemas.microsoft.com/office/drawing/2014/main" id="{F8083503-7AC5-F858-8E6A-F7281DEFAF70}"/>
              </a:ext>
            </a:extLst>
          </p:cNvPr>
          <p:cNvGrpSpPr/>
          <p:nvPr/>
        </p:nvGrpSpPr>
        <p:grpSpPr>
          <a:xfrm>
            <a:off x="5348798" y="1230014"/>
            <a:ext cx="2672764" cy="2683472"/>
            <a:chOff x="5319770" y="1268719"/>
            <a:chExt cx="2672764" cy="2683472"/>
          </a:xfrm>
        </p:grpSpPr>
        <p:sp>
          <p:nvSpPr>
            <p:cNvPr id="4" name="Rectangle 3">
              <a:extLst>
                <a:ext uri="{FF2B5EF4-FFF2-40B4-BE49-F238E27FC236}">
                  <a16:creationId xmlns:a16="http://schemas.microsoft.com/office/drawing/2014/main" id="{015C7D8F-51C5-4387-820D-FB3CD7D91F42}"/>
                </a:ext>
              </a:extLst>
            </p:cNvPr>
            <p:cNvSpPr/>
            <p:nvPr/>
          </p:nvSpPr>
          <p:spPr>
            <a:xfrm>
              <a:off x="5319770" y="1268719"/>
              <a:ext cx="2672764" cy="26834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erson in a black shirt&#10;&#10;AI-generated content may be incorrect.">
              <a:extLst>
                <a:ext uri="{FF2B5EF4-FFF2-40B4-BE49-F238E27FC236}">
                  <a16:creationId xmlns:a16="http://schemas.microsoft.com/office/drawing/2014/main" id="{04DE6D63-EB47-309F-FE41-FA9B97CBB7DD}"/>
                </a:ext>
              </a:extLst>
            </p:cNvPr>
            <p:cNvPicPr>
              <a:picLocks noChangeAspect="1"/>
            </p:cNvPicPr>
            <p:nvPr/>
          </p:nvPicPr>
          <p:blipFill>
            <a:blip r:embed="rId5"/>
            <a:stretch>
              <a:fillRect/>
            </a:stretch>
          </p:blipFill>
          <p:spPr>
            <a:xfrm>
              <a:off x="5319770" y="1268719"/>
              <a:ext cx="2672764" cy="2683472"/>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926CD798-AA7B-013B-2951-768FB3809BBC}"/>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F1875752-6CB2-AEDA-4280-0D4988D20C57}"/>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err="1">
                <a:solidFill>
                  <a:schemeClr val="lt1"/>
                </a:solidFill>
                <a:latin typeface="Montserrat"/>
                <a:ea typeface="Montserrat"/>
                <a:cs typeface="Montserrat"/>
                <a:sym typeface="Montserrat"/>
              </a:rPr>
              <a:t>Agradecimientos</a:t>
            </a:r>
            <a:r>
              <a:rPr lang="en-US" b="1" dirty="0">
                <a:solidFill>
                  <a:schemeClr val="lt1"/>
                </a:solidFill>
                <a:latin typeface="Montserrat"/>
                <a:ea typeface="Montserrat"/>
                <a:cs typeface="Montserrat"/>
                <a:sym typeface="Montserrat"/>
              </a:rPr>
              <a:t>:</a:t>
            </a:r>
            <a:endParaRPr b="1" dirty="0">
              <a:solidFill>
                <a:schemeClr val="lt1"/>
              </a:solidFill>
              <a:latin typeface="Montserrat"/>
              <a:ea typeface="Montserrat"/>
              <a:cs typeface="Montserrat"/>
              <a:sym typeface="Montserrat"/>
            </a:endParaRPr>
          </a:p>
        </p:txBody>
      </p:sp>
      <p:sp>
        <p:nvSpPr>
          <p:cNvPr id="65" name="Google Shape;65;p14">
            <a:extLst>
              <a:ext uri="{FF2B5EF4-FFF2-40B4-BE49-F238E27FC236}">
                <a16:creationId xmlns:a16="http://schemas.microsoft.com/office/drawing/2014/main" id="{FA7BEB37-0C62-93C1-A6AA-6C3DC61B10B7}"/>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285750" lvl="0" indent="-285750" algn="l" rtl="0">
              <a:spcBef>
                <a:spcPts val="0"/>
              </a:spcBef>
              <a:spcAft>
                <a:spcPts val="1200"/>
              </a:spcAft>
              <a:buFontTx/>
              <a:buChar char="-"/>
            </a:pPr>
            <a:r>
              <a:rPr lang="pt-BR" dirty="0">
                <a:solidFill>
                  <a:schemeClr val="lt1"/>
                </a:solidFill>
                <a:latin typeface="Montserrat Medium"/>
                <a:ea typeface="Montserrat Medium"/>
                <a:cs typeface="Montserrat Medium"/>
                <a:sym typeface="Montserrat Medium"/>
              </a:rPr>
              <a:t>Leonardo Núñez (LeonVQZ) [Red Teamer, muy duro]</a:t>
            </a:r>
          </a:p>
          <a:p>
            <a:pPr marL="285750" lvl="0" indent="-285750" algn="l" rtl="0">
              <a:spcBef>
                <a:spcPts val="0"/>
              </a:spcBef>
              <a:spcAft>
                <a:spcPts val="1200"/>
              </a:spcAft>
              <a:buFontTx/>
              <a:buChar char="-"/>
            </a:pPr>
            <a:r>
              <a:rPr lang="pt-BR" dirty="0">
                <a:solidFill>
                  <a:schemeClr val="lt1"/>
                </a:solidFill>
                <a:latin typeface="Montserrat Medium"/>
                <a:sym typeface="Montserrat Medium"/>
              </a:rPr>
              <a:t>Jose Felix (J0s3F3lix) [Blue Teamer, muy duro]</a:t>
            </a:r>
          </a:p>
          <a:p>
            <a:pPr marL="285750" lvl="0" indent="-285750" algn="l" rtl="0">
              <a:spcBef>
                <a:spcPts val="0"/>
              </a:spcBef>
              <a:spcAft>
                <a:spcPts val="1200"/>
              </a:spcAft>
              <a:buFontTx/>
              <a:buChar char="-"/>
            </a:pPr>
            <a:r>
              <a:rPr lang="pt-BR" dirty="0">
                <a:solidFill>
                  <a:schemeClr val="lt1"/>
                </a:solidFill>
                <a:latin typeface="Montserrat Medium"/>
                <a:sym typeface="Montserrat Medium"/>
              </a:rPr>
              <a:t>Orange CyberDefense [Desarrollaron el laboratorio que usaremos para esta charla](https://github.com/Orange-Cyberdefense/GOAD)</a:t>
            </a:r>
          </a:p>
        </p:txBody>
      </p:sp>
      <p:pic>
        <p:nvPicPr>
          <p:cNvPr id="66" name="Google Shape;66;p14">
            <a:extLst>
              <a:ext uri="{FF2B5EF4-FFF2-40B4-BE49-F238E27FC236}">
                <a16:creationId xmlns:a16="http://schemas.microsoft.com/office/drawing/2014/main" id="{71CF197B-CF93-14C0-A8EE-00ED0A06AFAA}"/>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3800331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err="1">
                <a:solidFill>
                  <a:schemeClr val="lt1"/>
                </a:solidFill>
                <a:latin typeface="Montserrat"/>
                <a:ea typeface="Montserrat"/>
                <a:cs typeface="Montserrat"/>
                <a:sym typeface="Montserrat"/>
              </a:rPr>
              <a:t>Tecnicas</a:t>
            </a:r>
            <a:r>
              <a:rPr lang="en-US" b="1" dirty="0">
                <a:solidFill>
                  <a:schemeClr val="lt1"/>
                </a:solidFill>
                <a:latin typeface="Montserrat"/>
                <a:ea typeface="Montserrat"/>
                <a:cs typeface="Montserrat"/>
                <a:sym typeface="Montserrat"/>
              </a:rPr>
              <a:t> y sus </a:t>
            </a:r>
            <a:r>
              <a:rPr lang="en-US" b="1" dirty="0" err="1">
                <a:solidFill>
                  <a:schemeClr val="lt1"/>
                </a:solidFill>
                <a:latin typeface="Montserrat"/>
                <a:ea typeface="Montserrat"/>
                <a:cs typeface="Montserrat"/>
                <a:sym typeface="Montserrat"/>
              </a:rPr>
              <a:t>defensas</a:t>
            </a:r>
            <a:r>
              <a:rPr lang="en-US" b="1" dirty="0">
                <a:solidFill>
                  <a:schemeClr val="lt1"/>
                </a:solidFill>
                <a:latin typeface="Montserrat"/>
                <a:ea typeface="Montserrat"/>
                <a:cs typeface="Montserrat"/>
                <a:sym typeface="Montserrat"/>
              </a:rPr>
              <a:t> 🛡️</a:t>
            </a:r>
            <a:endParaRPr b="1" dirty="0">
              <a:solidFill>
                <a:schemeClr val="lt1"/>
              </a:solidFill>
              <a:latin typeface="Montserrat"/>
              <a:ea typeface="Montserrat"/>
              <a:cs typeface="Montserrat"/>
              <a:sym typeface="Montserrat"/>
            </a:endParaRPr>
          </a:p>
        </p:txBody>
      </p:sp>
      <p:sp>
        <p:nvSpPr>
          <p:cNvPr id="65" name="Google Shape;65;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285750" lvl="0" indent="-285750" algn="l" rtl="0">
              <a:spcBef>
                <a:spcPts val="0"/>
              </a:spcBef>
              <a:spcAft>
                <a:spcPts val="1200"/>
              </a:spcAft>
              <a:buFontTx/>
              <a:buChar char="-"/>
            </a:pPr>
            <a:r>
              <a:rPr lang="en-US" dirty="0">
                <a:solidFill>
                  <a:schemeClr val="lt1"/>
                </a:solidFill>
                <a:latin typeface="Montserrat Medium"/>
                <a:ea typeface="Montserrat Medium"/>
                <a:cs typeface="Montserrat Medium"/>
                <a:sym typeface="Montserrat Medium"/>
              </a:rPr>
              <a:t>AS-Rep Roasting</a:t>
            </a:r>
          </a:p>
          <a:p>
            <a:pPr marL="285750" lvl="0" indent="-285750" algn="l" rtl="0">
              <a:spcBef>
                <a:spcPts val="0"/>
              </a:spcBef>
              <a:spcAft>
                <a:spcPts val="1200"/>
              </a:spcAft>
              <a:buFontTx/>
              <a:buChar char="-"/>
            </a:pPr>
            <a:r>
              <a:rPr lang="en-US" dirty="0" err="1">
                <a:solidFill>
                  <a:schemeClr val="lt1"/>
                </a:solidFill>
                <a:latin typeface="Montserrat Medium"/>
                <a:ea typeface="Montserrat Medium"/>
                <a:cs typeface="Montserrat Medium"/>
                <a:sym typeface="Montserrat Medium"/>
              </a:rPr>
              <a:t>Kerberoasting</a:t>
            </a:r>
            <a:endParaRPr lang="en-US" dirty="0">
              <a:solidFill>
                <a:schemeClr val="lt1"/>
              </a:solidFill>
              <a:latin typeface="Montserrat Medium"/>
              <a:ea typeface="Montserrat Medium"/>
              <a:cs typeface="Montserrat Medium"/>
              <a:sym typeface="Montserrat Medium"/>
            </a:endParaRPr>
          </a:p>
          <a:p>
            <a:pPr marL="285750" lvl="0" indent="-285750" algn="l" rtl="0">
              <a:spcBef>
                <a:spcPts val="0"/>
              </a:spcBef>
              <a:spcAft>
                <a:spcPts val="1200"/>
              </a:spcAft>
              <a:buFontTx/>
              <a:buChar char="-"/>
            </a:pPr>
            <a:r>
              <a:rPr lang="en-US" dirty="0">
                <a:solidFill>
                  <a:schemeClr val="lt1"/>
                </a:solidFill>
                <a:latin typeface="Montserrat Medium"/>
                <a:ea typeface="Montserrat Medium"/>
                <a:cs typeface="Montserrat Medium"/>
                <a:sym typeface="Montserrat Medium"/>
              </a:rPr>
              <a:t>LLMNR Poisoning / NTLM Relay</a:t>
            </a:r>
          </a:p>
          <a:p>
            <a:pPr marL="285750" lvl="0" indent="-285750" algn="l" rtl="0">
              <a:spcBef>
                <a:spcPts val="0"/>
              </a:spcBef>
              <a:spcAft>
                <a:spcPts val="1200"/>
              </a:spcAft>
              <a:buFontTx/>
              <a:buChar char="-"/>
            </a:pPr>
            <a:r>
              <a:rPr lang="en-US" dirty="0">
                <a:solidFill>
                  <a:schemeClr val="lt1"/>
                </a:solidFill>
                <a:latin typeface="Montserrat Medium"/>
                <a:ea typeface="Montserrat Medium"/>
                <a:cs typeface="Montserrat Medium"/>
                <a:sym typeface="Montserrat Medium"/>
              </a:rPr>
              <a:t>ACL Exploits</a:t>
            </a:r>
          </a:p>
          <a:p>
            <a:pPr marL="285750" lvl="0" indent="-285750" algn="l" rtl="0">
              <a:spcBef>
                <a:spcPts val="0"/>
              </a:spcBef>
              <a:spcAft>
                <a:spcPts val="1200"/>
              </a:spcAft>
              <a:buFontTx/>
              <a:buChar char="-"/>
            </a:pPr>
            <a:r>
              <a:rPr lang="en-US" dirty="0">
                <a:solidFill>
                  <a:schemeClr val="lt1"/>
                </a:solidFill>
                <a:latin typeface="Montserrat Medium"/>
                <a:ea typeface="Montserrat Medium"/>
                <a:cs typeface="Montserrat Medium"/>
                <a:sym typeface="Montserrat Medium"/>
              </a:rPr>
              <a:t>ADCS Exploits (1 </a:t>
            </a:r>
            <a:r>
              <a:rPr lang="en-US" dirty="0" err="1">
                <a:solidFill>
                  <a:schemeClr val="lt1"/>
                </a:solidFill>
                <a:latin typeface="Montserrat Medium"/>
                <a:ea typeface="Montserrat Medium"/>
                <a:cs typeface="Montserrat Medium"/>
                <a:sym typeface="Montserrat Medium"/>
              </a:rPr>
              <a:t>caso</a:t>
            </a:r>
            <a:r>
              <a:rPr lang="en-US" dirty="0">
                <a:solidFill>
                  <a:schemeClr val="lt1"/>
                </a:solidFill>
                <a:latin typeface="Montserrat Medium"/>
                <a:ea typeface="Montserrat Medium"/>
                <a:cs typeface="Montserrat Medium"/>
                <a:sym typeface="Montserrat Medium"/>
              </a:rPr>
              <a:t>)</a:t>
            </a:r>
          </a:p>
          <a:p>
            <a:pPr marL="285750" lvl="0" indent="-285750" algn="l" rtl="0">
              <a:spcBef>
                <a:spcPts val="0"/>
              </a:spcBef>
              <a:spcAft>
                <a:spcPts val="1200"/>
              </a:spcAft>
              <a:buFontTx/>
              <a:buChar char="-"/>
            </a:pPr>
            <a:r>
              <a:rPr lang="en-US" dirty="0">
                <a:solidFill>
                  <a:schemeClr val="lt1"/>
                </a:solidFill>
                <a:latin typeface="Montserrat Medium"/>
                <a:ea typeface="Montserrat Medium"/>
                <a:cs typeface="Montserrat Medium"/>
                <a:sym typeface="Montserrat Medium"/>
              </a:rPr>
              <a:t>Shadow Credentials</a:t>
            </a:r>
          </a:p>
          <a:p>
            <a:pPr marL="285750" lvl="0" indent="-285750" algn="l" rtl="0">
              <a:spcBef>
                <a:spcPts val="0"/>
              </a:spcBef>
              <a:spcAft>
                <a:spcPts val="1200"/>
              </a:spcAft>
              <a:buFontTx/>
              <a:buChar char="-"/>
            </a:pPr>
            <a:r>
              <a:rPr lang="en-US" dirty="0" err="1">
                <a:solidFill>
                  <a:schemeClr val="lt1"/>
                </a:solidFill>
                <a:latin typeface="Montserrat Medium"/>
                <a:ea typeface="Montserrat Medium"/>
                <a:cs typeface="Montserrat Medium"/>
                <a:sym typeface="Montserrat Medium"/>
              </a:rPr>
              <a:t>DCSync</a:t>
            </a:r>
            <a:endParaRPr lang="en-US" dirty="0">
              <a:solidFill>
                <a:schemeClr val="lt1"/>
              </a:solidFill>
              <a:latin typeface="Montserrat Medium"/>
              <a:ea typeface="Montserrat Medium"/>
              <a:cs typeface="Montserrat Medium"/>
              <a:sym typeface="Montserrat Medium"/>
            </a:endParaRPr>
          </a:p>
          <a:p>
            <a:pPr marL="285750" lvl="0" indent="-285750" algn="l" rtl="0">
              <a:spcBef>
                <a:spcPts val="0"/>
              </a:spcBef>
              <a:spcAft>
                <a:spcPts val="1200"/>
              </a:spcAft>
              <a:buFontTx/>
              <a:buChar char="-"/>
            </a:pPr>
            <a:r>
              <a:rPr lang="en-US" dirty="0">
                <a:solidFill>
                  <a:schemeClr val="lt1"/>
                </a:solidFill>
                <a:latin typeface="Montserrat Medium"/>
                <a:ea typeface="Montserrat Medium"/>
                <a:cs typeface="Montserrat Medium"/>
                <a:sym typeface="Montserrat Medium"/>
              </a:rPr>
              <a:t>Golden Ticket</a:t>
            </a:r>
          </a:p>
          <a:p>
            <a:pPr marL="285750" lvl="0" indent="-285750" algn="l" rtl="0">
              <a:spcBef>
                <a:spcPts val="0"/>
              </a:spcBef>
              <a:spcAft>
                <a:spcPts val="1200"/>
              </a:spcAft>
              <a:buFontTx/>
              <a:buChar char="-"/>
            </a:pPr>
            <a:endParaRPr dirty="0">
              <a:solidFill>
                <a:schemeClr val="lt1"/>
              </a:solidFill>
              <a:latin typeface="Montserrat Medium"/>
              <a:ea typeface="Montserrat Medium"/>
              <a:cs typeface="Montserrat Medium"/>
              <a:sym typeface="Montserrat Medium"/>
            </a:endParaRPr>
          </a:p>
        </p:txBody>
      </p:sp>
      <p:pic>
        <p:nvPicPr>
          <p:cNvPr id="66" name="Google Shape;66;p14"/>
          <p:cNvPicPr preferRelativeResize="0"/>
          <p:nvPr/>
        </p:nvPicPr>
        <p:blipFill>
          <a:blip r:embed="rId4">
            <a:alphaModFix/>
          </a:blip>
          <a:stretch>
            <a:fillRect/>
          </a:stretch>
        </p:blipFill>
        <p:spPr>
          <a:xfrm>
            <a:off x="8098601" y="4821796"/>
            <a:ext cx="906726" cy="203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555600"/>
            <a:ext cx="2808000" cy="75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100" b="1" dirty="0">
                <a:solidFill>
                  <a:schemeClr val="lt1"/>
                </a:solidFill>
                <a:latin typeface="Montserrat"/>
                <a:ea typeface="Montserrat"/>
                <a:cs typeface="Montserrat"/>
                <a:sym typeface="Montserrat"/>
              </a:rPr>
              <a:t>Active Directory</a:t>
            </a:r>
            <a:endParaRPr sz="2100" b="1" dirty="0">
              <a:solidFill>
                <a:schemeClr val="lt1"/>
              </a:solidFill>
              <a:latin typeface="Montserrat"/>
              <a:ea typeface="Montserrat"/>
              <a:cs typeface="Montserrat"/>
              <a:sym typeface="Montserrat"/>
            </a:endParaRPr>
          </a:p>
        </p:txBody>
      </p:sp>
      <p:sp>
        <p:nvSpPr>
          <p:cNvPr id="72" name="Google Shape;72;p15"/>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p>
            <a:pPr marL="171450" lvl="0" indent="-171450" algn="l" rtl="0">
              <a:spcBef>
                <a:spcPts val="0"/>
              </a:spcBef>
              <a:spcAft>
                <a:spcPts val="1200"/>
              </a:spcAft>
              <a:buFontTx/>
              <a:buChar char="-"/>
            </a:pPr>
            <a:r>
              <a:rPr lang="en-US" sz="1100" dirty="0" err="1">
                <a:solidFill>
                  <a:schemeClr val="lt1"/>
                </a:solidFill>
                <a:latin typeface="Montserrat"/>
                <a:ea typeface="Montserrat"/>
                <a:cs typeface="Montserrat"/>
                <a:sym typeface="Montserrat"/>
              </a:rPr>
              <a:t>Lanzado</a:t>
            </a:r>
            <a:r>
              <a:rPr lang="en-US" sz="1100" dirty="0">
                <a:solidFill>
                  <a:schemeClr val="lt1"/>
                </a:solidFill>
                <a:latin typeface="Montserrat"/>
                <a:ea typeface="Montserrat"/>
                <a:cs typeface="Montserrat"/>
                <a:sym typeface="Montserrat"/>
              </a:rPr>
              <a:t> </a:t>
            </a:r>
            <a:r>
              <a:rPr lang="en-US" sz="1100" dirty="0" err="1">
                <a:solidFill>
                  <a:schemeClr val="lt1"/>
                </a:solidFill>
                <a:latin typeface="Montserrat"/>
                <a:ea typeface="Montserrat"/>
                <a:cs typeface="Montserrat"/>
                <a:sym typeface="Montserrat"/>
              </a:rPr>
              <a:t>en</a:t>
            </a:r>
            <a:r>
              <a:rPr lang="en-US" sz="1100" dirty="0">
                <a:solidFill>
                  <a:schemeClr val="lt1"/>
                </a:solidFill>
                <a:latin typeface="Montserrat"/>
                <a:ea typeface="Montserrat"/>
                <a:cs typeface="Montserrat"/>
                <a:sym typeface="Montserrat"/>
              </a:rPr>
              <a:t> </a:t>
            </a:r>
            <a:r>
              <a:rPr lang="en-US" sz="1100" dirty="0" err="1">
                <a:solidFill>
                  <a:schemeClr val="lt1"/>
                </a:solidFill>
                <a:latin typeface="Montserrat"/>
                <a:ea typeface="Montserrat"/>
                <a:cs typeface="Montserrat"/>
                <a:sym typeface="Montserrat"/>
              </a:rPr>
              <a:t>el</a:t>
            </a:r>
            <a:r>
              <a:rPr lang="en-US" sz="1100" dirty="0">
                <a:solidFill>
                  <a:schemeClr val="lt1"/>
                </a:solidFill>
                <a:latin typeface="Montserrat"/>
                <a:ea typeface="Montserrat"/>
                <a:cs typeface="Montserrat"/>
                <a:sym typeface="Montserrat"/>
              </a:rPr>
              <a:t> a</a:t>
            </a:r>
            <a:r>
              <a:rPr lang="es-MX" sz="1100" dirty="0" err="1">
                <a:solidFill>
                  <a:schemeClr val="lt1"/>
                </a:solidFill>
                <a:latin typeface="Montserrat"/>
                <a:ea typeface="Montserrat"/>
                <a:cs typeface="Montserrat"/>
                <a:sym typeface="Montserrat"/>
              </a:rPr>
              <a:t>ño</a:t>
            </a:r>
            <a:r>
              <a:rPr lang="es-MX" sz="1100" dirty="0">
                <a:solidFill>
                  <a:schemeClr val="lt1"/>
                </a:solidFill>
                <a:latin typeface="Montserrat"/>
                <a:ea typeface="Montserrat"/>
                <a:cs typeface="Montserrat"/>
                <a:sym typeface="Montserrat"/>
              </a:rPr>
              <a:t> 2000, con Windows 2000 Server.</a:t>
            </a:r>
          </a:p>
          <a:p>
            <a:pPr marL="171450" lvl="0" indent="-171450" algn="l" rtl="0">
              <a:spcBef>
                <a:spcPts val="0"/>
              </a:spcBef>
              <a:spcAft>
                <a:spcPts val="1200"/>
              </a:spcAft>
              <a:buFontTx/>
              <a:buChar char="-"/>
            </a:pPr>
            <a:r>
              <a:rPr lang="es-MX" sz="1100" dirty="0">
                <a:solidFill>
                  <a:schemeClr val="lt1"/>
                </a:solidFill>
                <a:latin typeface="Montserrat"/>
                <a:ea typeface="Montserrat"/>
                <a:cs typeface="Montserrat"/>
                <a:sym typeface="Montserrat"/>
              </a:rPr>
              <a:t>Principal razón por la cual surge es para la simplificar la administración de los recursos tecnológicos de las empresas, teniendo funcionalidades que aumentaron la calidad de vida de los </a:t>
            </a:r>
            <a:r>
              <a:rPr lang="es-MX" sz="1100" dirty="0" err="1">
                <a:solidFill>
                  <a:schemeClr val="lt1"/>
                </a:solidFill>
                <a:latin typeface="Montserrat"/>
                <a:ea typeface="Montserrat"/>
                <a:cs typeface="Montserrat"/>
                <a:sym typeface="Montserrat"/>
              </a:rPr>
              <a:t>sysadmin</a:t>
            </a:r>
            <a:r>
              <a:rPr lang="es-MX" sz="1100" dirty="0">
                <a:solidFill>
                  <a:schemeClr val="lt1"/>
                </a:solidFill>
                <a:latin typeface="Montserrat"/>
                <a:ea typeface="Montserrat"/>
                <a:cs typeface="Montserrat"/>
                <a:sym typeface="Montserrat"/>
              </a:rPr>
              <a:t> exponencialmente, tales como inicio de sesión único (SSO) y gestión centralizada de permisos y usuarios dentro de una red.</a:t>
            </a:r>
          </a:p>
          <a:p>
            <a:pPr marL="171450" lvl="0" indent="-171450" algn="l" rtl="0">
              <a:spcBef>
                <a:spcPts val="0"/>
              </a:spcBef>
              <a:spcAft>
                <a:spcPts val="1200"/>
              </a:spcAft>
              <a:buFontTx/>
              <a:buChar char="-"/>
            </a:pPr>
            <a:endParaRPr lang="es-MX" sz="1100" dirty="0">
              <a:solidFill>
                <a:schemeClr val="lt1"/>
              </a:solidFill>
              <a:latin typeface="Montserrat"/>
              <a:ea typeface="Montserrat"/>
              <a:cs typeface="Montserrat"/>
              <a:sym typeface="Montserrat"/>
            </a:endParaRPr>
          </a:p>
        </p:txBody>
      </p:sp>
      <p:pic>
        <p:nvPicPr>
          <p:cNvPr id="73" name="Google Shape;73;p15"/>
          <p:cNvPicPr preferRelativeResize="0"/>
          <p:nvPr/>
        </p:nvPicPr>
        <p:blipFill>
          <a:blip r:embed="rId4">
            <a:alphaModFix/>
          </a:blip>
          <a:stretch>
            <a:fillRect/>
          </a:stretch>
        </p:blipFill>
        <p:spPr>
          <a:xfrm>
            <a:off x="8098601" y="4821796"/>
            <a:ext cx="906726" cy="203675"/>
          </a:xfrm>
          <a:prstGeom prst="rect">
            <a:avLst/>
          </a:prstGeom>
          <a:noFill/>
          <a:ln>
            <a:noFill/>
          </a:ln>
        </p:spPr>
      </p:pic>
      <p:pic>
        <p:nvPicPr>
          <p:cNvPr id="3" name="Picture 2" descr="A diagram of a network&#10;&#10;AI-generated content may be incorrect.">
            <a:extLst>
              <a:ext uri="{FF2B5EF4-FFF2-40B4-BE49-F238E27FC236}">
                <a16:creationId xmlns:a16="http://schemas.microsoft.com/office/drawing/2014/main" id="{EA32C675-DFD4-7899-5EF0-0496B62539AC}"/>
              </a:ext>
            </a:extLst>
          </p:cNvPr>
          <p:cNvPicPr>
            <a:picLocks noChangeAspect="1"/>
          </p:cNvPicPr>
          <p:nvPr/>
        </p:nvPicPr>
        <p:blipFill>
          <a:blip r:embed="rId5"/>
          <a:stretch>
            <a:fillRect/>
          </a:stretch>
        </p:blipFill>
        <p:spPr>
          <a:xfrm>
            <a:off x="3774359" y="1208255"/>
            <a:ext cx="4777605" cy="35420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
          <a:extLst>
            <a:ext uri="{FF2B5EF4-FFF2-40B4-BE49-F238E27FC236}">
              <a16:creationId xmlns:a16="http://schemas.microsoft.com/office/drawing/2014/main" id="{0B1DD3D9-B8B5-0122-1E83-5574E7567AD9}"/>
            </a:ext>
          </a:extLst>
        </p:cNvPr>
        <p:cNvGrpSpPr/>
        <p:nvPr/>
      </p:nvGrpSpPr>
      <p:grpSpPr>
        <a:xfrm>
          <a:off x="0" y="0"/>
          <a:ext cx="0" cy="0"/>
          <a:chOff x="0" y="0"/>
          <a:chExt cx="0" cy="0"/>
        </a:xfrm>
      </p:grpSpPr>
      <p:sp>
        <p:nvSpPr>
          <p:cNvPr id="71" name="Google Shape;71;p15">
            <a:extLst>
              <a:ext uri="{FF2B5EF4-FFF2-40B4-BE49-F238E27FC236}">
                <a16:creationId xmlns:a16="http://schemas.microsoft.com/office/drawing/2014/main" id="{E0549063-327B-14DA-2B9E-D52186B6B370}"/>
              </a:ext>
            </a:extLst>
          </p:cNvPr>
          <p:cNvSpPr txBox="1">
            <a:spLocks noGrp="1"/>
          </p:cNvSpPr>
          <p:nvPr>
            <p:ph type="title"/>
          </p:nvPr>
        </p:nvSpPr>
        <p:spPr>
          <a:xfrm>
            <a:off x="311700" y="574500"/>
            <a:ext cx="2808000" cy="75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100" b="1" dirty="0">
                <a:solidFill>
                  <a:schemeClr val="lt1"/>
                </a:solidFill>
                <a:latin typeface="Montserrat"/>
                <a:ea typeface="Montserrat"/>
                <a:cs typeface="Montserrat"/>
                <a:sym typeface="Montserrat"/>
              </a:rPr>
              <a:t>Kerberos</a:t>
            </a:r>
            <a:endParaRPr sz="2100" b="1" dirty="0">
              <a:solidFill>
                <a:schemeClr val="lt1"/>
              </a:solidFill>
              <a:latin typeface="Montserrat"/>
              <a:ea typeface="Montserrat"/>
              <a:cs typeface="Montserrat"/>
              <a:sym typeface="Montserrat"/>
            </a:endParaRPr>
          </a:p>
        </p:txBody>
      </p:sp>
      <p:sp>
        <p:nvSpPr>
          <p:cNvPr id="72" name="Google Shape;72;p15">
            <a:extLst>
              <a:ext uri="{FF2B5EF4-FFF2-40B4-BE49-F238E27FC236}">
                <a16:creationId xmlns:a16="http://schemas.microsoft.com/office/drawing/2014/main" id="{BCE55CD5-FEFD-BBFC-F645-5028ECE3EB94}"/>
              </a:ext>
            </a:extLst>
          </p:cNvPr>
          <p:cNvSpPr txBox="1">
            <a:spLocks noGrp="1"/>
          </p:cNvSpPr>
          <p:nvPr>
            <p:ph type="body" idx="1"/>
          </p:nvPr>
        </p:nvSpPr>
        <p:spPr>
          <a:xfrm>
            <a:off x="311700" y="1112762"/>
            <a:ext cx="2808000" cy="3456238"/>
          </a:xfrm>
          <a:prstGeom prst="rect">
            <a:avLst/>
          </a:prstGeom>
        </p:spPr>
        <p:txBody>
          <a:bodyPr spcFirstLastPara="1" wrap="square" lIns="91425" tIns="91425" rIns="91425" bIns="91425" anchor="t" anchorCtr="0">
            <a:normAutofit/>
          </a:bodyPr>
          <a:lstStyle/>
          <a:p>
            <a:pPr marL="171450" lvl="0" indent="-171450" algn="l" rtl="0">
              <a:spcBef>
                <a:spcPts val="0"/>
              </a:spcBef>
              <a:spcAft>
                <a:spcPts val="1200"/>
              </a:spcAft>
              <a:buFontTx/>
              <a:buChar char="-"/>
            </a:pPr>
            <a:r>
              <a:rPr lang="en-US" sz="1100" dirty="0" err="1">
                <a:solidFill>
                  <a:schemeClr val="lt1"/>
                </a:solidFill>
                <a:latin typeface="Montserrat"/>
                <a:ea typeface="Montserrat"/>
                <a:cs typeface="Montserrat"/>
                <a:sym typeface="Montserrat"/>
              </a:rPr>
              <a:t>Lanzado</a:t>
            </a:r>
            <a:r>
              <a:rPr lang="en-US" sz="1100" dirty="0">
                <a:solidFill>
                  <a:schemeClr val="lt1"/>
                </a:solidFill>
                <a:latin typeface="Montserrat"/>
                <a:ea typeface="Montserrat"/>
                <a:cs typeface="Montserrat"/>
                <a:sym typeface="Montserrat"/>
              </a:rPr>
              <a:t> </a:t>
            </a:r>
            <a:r>
              <a:rPr lang="en-US" sz="1100" dirty="0" err="1">
                <a:solidFill>
                  <a:schemeClr val="lt1"/>
                </a:solidFill>
                <a:latin typeface="Montserrat"/>
                <a:ea typeface="Montserrat"/>
                <a:cs typeface="Montserrat"/>
                <a:sym typeface="Montserrat"/>
              </a:rPr>
              <a:t>en</a:t>
            </a:r>
            <a:r>
              <a:rPr lang="en-US" sz="1100" dirty="0">
                <a:solidFill>
                  <a:schemeClr val="lt1"/>
                </a:solidFill>
                <a:latin typeface="Montserrat"/>
                <a:ea typeface="Montserrat"/>
                <a:cs typeface="Montserrat"/>
                <a:sym typeface="Montserrat"/>
              </a:rPr>
              <a:t> </a:t>
            </a:r>
            <a:r>
              <a:rPr lang="en-US" sz="1100" dirty="0" err="1">
                <a:solidFill>
                  <a:schemeClr val="lt1"/>
                </a:solidFill>
                <a:latin typeface="Montserrat"/>
                <a:ea typeface="Montserrat"/>
                <a:cs typeface="Montserrat"/>
                <a:sym typeface="Montserrat"/>
              </a:rPr>
              <a:t>el</a:t>
            </a:r>
            <a:r>
              <a:rPr lang="en-US" sz="1100" dirty="0">
                <a:solidFill>
                  <a:schemeClr val="lt1"/>
                </a:solidFill>
                <a:latin typeface="Montserrat"/>
                <a:ea typeface="Montserrat"/>
                <a:cs typeface="Montserrat"/>
                <a:sym typeface="Montserrat"/>
              </a:rPr>
              <a:t> 1988, </a:t>
            </a:r>
            <a:r>
              <a:rPr lang="en-US" sz="1100" dirty="0" err="1">
                <a:solidFill>
                  <a:schemeClr val="lt1"/>
                </a:solidFill>
                <a:latin typeface="Montserrat"/>
                <a:ea typeface="Montserrat"/>
                <a:cs typeface="Montserrat"/>
                <a:sym typeface="Montserrat"/>
              </a:rPr>
              <a:t>desarrollado</a:t>
            </a:r>
            <a:r>
              <a:rPr lang="en-US" sz="1100" dirty="0">
                <a:solidFill>
                  <a:schemeClr val="lt1"/>
                </a:solidFill>
                <a:latin typeface="Montserrat"/>
                <a:ea typeface="Montserrat"/>
                <a:cs typeface="Montserrat"/>
                <a:sym typeface="Montserrat"/>
              </a:rPr>
              <a:t> </a:t>
            </a:r>
            <a:r>
              <a:rPr lang="en-US" sz="1100" dirty="0" err="1">
                <a:solidFill>
                  <a:schemeClr val="lt1"/>
                </a:solidFill>
                <a:latin typeface="Montserrat"/>
                <a:ea typeface="Montserrat"/>
                <a:cs typeface="Montserrat"/>
                <a:sym typeface="Montserrat"/>
              </a:rPr>
              <a:t>por</a:t>
            </a:r>
            <a:r>
              <a:rPr lang="en-US" sz="1100" dirty="0">
                <a:solidFill>
                  <a:schemeClr val="lt1"/>
                </a:solidFill>
                <a:latin typeface="Montserrat"/>
                <a:ea typeface="Montserrat"/>
                <a:cs typeface="Montserrat"/>
                <a:sym typeface="Montserrat"/>
              </a:rPr>
              <a:t> un </a:t>
            </a:r>
            <a:r>
              <a:rPr lang="en-US" sz="1100" dirty="0" err="1">
                <a:solidFill>
                  <a:schemeClr val="lt1"/>
                </a:solidFill>
                <a:latin typeface="Montserrat"/>
                <a:ea typeface="Montserrat"/>
                <a:cs typeface="Montserrat"/>
                <a:sym typeface="Montserrat"/>
              </a:rPr>
              <a:t>equipo</a:t>
            </a:r>
            <a:r>
              <a:rPr lang="en-US" sz="1100" dirty="0">
                <a:solidFill>
                  <a:schemeClr val="lt1"/>
                </a:solidFill>
                <a:latin typeface="Montserrat"/>
                <a:ea typeface="Montserrat"/>
                <a:cs typeface="Montserrat"/>
                <a:sym typeface="Montserrat"/>
              </a:rPr>
              <a:t> del MIT (Massachusetts Institute of Technology).</a:t>
            </a:r>
          </a:p>
          <a:p>
            <a:pPr marL="171450" lvl="0" indent="-171450" algn="l" rtl="0">
              <a:spcBef>
                <a:spcPts val="0"/>
              </a:spcBef>
              <a:spcAft>
                <a:spcPts val="1200"/>
              </a:spcAft>
              <a:buFontTx/>
              <a:buChar char="-"/>
            </a:pPr>
            <a:r>
              <a:rPr lang="en-US" sz="1100" dirty="0" err="1">
                <a:solidFill>
                  <a:schemeClr val="lt1"/>
                </a:solidFill>
                <a:latin typeface="Montserrat"/>
                <a:ea typeface="Montserrat"/>
                <a:cs typeface="Montserrat"/>
                <a:sym typeface="Montserrat"/>
              </a:rPr>
              <a:t>Orientado</a:t>
            </a:r>
            <a:r>
              <a:rPr lang="en-US" sz="1100" dirty="0">
                <a:solidFill>
                  <a:schemeClr val="lt1"/>
                </a:solidFill>
                <a:latin typeface="Montserrat"/>
                <a:ea typeface="Montserrat"/>
                <a:cs typeface="Montserrat"/>
                <a:sym typeface="Montserrat"/>
              </a:rPr>
              <a:t> </a:t>
            </a:r>
            <a:r>
              <a:rPr lang="en-US" sz="1100" dirty="0" err="1">
                <a:solidFill>
                  <a:schemeClr val="lt1"/>
                </a:solidFill>
                <a:latin typeface="Montserrat"/>
                <a:ea typeface="Montserrat"/>
                <a:cs typeface="Montserrat"/>
                <a:sym typeface="Montserrat"/>
              </a:rPr>
              <a:t>en</a:t>
            </a:r>
            <a:r>
              <a:rPr lang="en-US" sz="1100" dirty="0">
                <a:solidFill>
                  <a:schemeClr val="lt1"/>
                </a:solidFill>
                <a:latin typeface="Montserrat"/>
                <a:ea typeface="Montserrat"/>
                <a:cs typeface="Montserrat"/>
                <a:sym typeface="Montserrat"/>
              </a:rPr>
              <a:t> </a:t>
            </a:r>
            <a:r>
              <a:rPr lang="en-US" sz="1100" dirty="0" err="1">
                <a:solidFill>
                  <a:schemeClr val="lt1"/>
                </a:solidFill>
                <a:latin typeface="Montserrat"/>
                <a:ea typeface="Montserrat"/>
                <a:cs typeface="Montserrat"/>
                <a:sym typeface="Montserrat"/>
              </a:rPr>
              <a:t>el</a:t>
            </a:r>
            <a:r>
              <a:rPr lang="en-US" sz="1100" dirty="0">
                <a:solidFill>
                  <a:schemeClr val="lt1"/>
                </a:solidFill>
                <a:latin typeface="Montserrat"/>
                <a:ea typeface="Montserrat"/>
                <a:cs typeface="Montserrat"/>
                <a:sym typeface="Montserrat"/>
              </a:rPr>
              <a:t> </a:t>
            </a:r>
            <a:r>
              <a:rPr lang="en-US" sz="1100" dirty="0" err="1">
                <a:solidFill>
                  <a:schemeClr val="lt1"/>
                </a:solidFill>
                <a:latin typeface="Montserrat"/>
                <a:ea typeface="Montserrat"/>
                <a:cs typeface="Montserrat"/>
                <a:sym typeface="Montserrat"/>
              </a:rPr>
              <a:t>uso</a:t>
            </a:r>
            <a:r>
              <a:rPr lang="en-US" sz="1100" dirty="0">
                <a:solidFill>
                  <a:schemeClr val="lt1"/>
                </a:solidFill>
                <a:latin typeface="Montserrat"/>
                <a:ea typeface="Montserrat"/>
                <a:cs typeface="Montserrat"/>
                <a:sym typeface="Montserrat"/>
              </a:rPr>
              <a:t> de tickets, prove </a:t>
            </a:r>
            <a:r>
              <a:rPr lang="en-US" sz="1100" dirty="0" err="1">
                <a:solidFill>
                  <a:schemeClr val="lt1"/>
                </a:solidFill>
                <a:latin typeface="Montserrat"/>
                <a:ea typeface="Montserrat"/>
                <a:cs typeface="Montserrat"/>
                <a:sym typeface="Montserrat"/>
              </a:rPr>
              <a:t>una</a:t>
            </a:r>
            <a:r>
              <a:rPr lang="en-US" sz="1100" dirty="0">
                <a:solidFill>
                  <a:schemeClr val="lt1"/>
                </a:solidFill>
                <a:latin typeface="Montserrat"/>
                <a:ea typeface="Montserrat"/>
                <a:cs typeface="Montserrat"/>
                <a:sym typeface="Montserrat"/>
              </a:rPr>
              <a:t> forma </a:t>
            </a:r>
            <a:r>
              <a:rPr lang="en-US" sz="1100" dirty="0" err="1">
                <a:solidFill>
                  <a:schemeClr val="lt1"/>
                </a:solidFill>
                <a:latin typeface="Montserrat"/>
                <a:ea typeface="Montserrat"/>
                <a:cs typeface="Montserrat"/>
                <a:sym typeface="Montserrat"/>
              </a:rPr>
              <a:t>segura</a:t>
            </a:r>
            <a:r>
              <a:rPr lang="en-US" sz="1100" dirty="0">
                <a:solidFill>
                  <a:schemeClr val="lt1"/>
                </a:solidFill>
                <a:latin typeface="Montserrat"/>
                <a:ea typeface="Montserrat"/>
                <a:cs typeface="Montserrat"/>
                <a:sym typeface="Montserrat"/>
              </a:rPr>
              <a:t> para la </a:t>
            </a:r>
            <a:r>
              <a:rPr lang="en-US" sz="1100" dirty="0" err="1">
                <a:solidFill>
                  <a:schemeClr val="lt1"/>
                </a:solidFill>
                <a:latin typeface="Montserrat"/>
                <a:ea typeface="Montserrat"/>
                <a:cs typeface="Montserrat"/>
                <a:sym typeface="Montserrat"/>
              </a:rPr>
              <a:t>autenticacion</a:t>
            </a:r>
            <a:r>
              <a:rPr lang="en-US" sz="1100" dirty="0">
                <a:solidFill>
                  <a:schemeClr val="lt1"/>
                </a:solidFill>
                <a:latin typeface="Montserrat"/>
                <a:ea typeface="Montserrat"/>
                <a:cs typeface="Montserrat"/>
                <a:sym typeface="Montserrat"/>
              </a:rPr>
              <a:t> de </a:t>
            </a:r>
            <a:r>
              <a:rPr lang="en-US" sz="1100" dirty="0" err="1">
                <a:solidFill>
                  <a:schemeClr val="lt1"/>
                </a:solidFill>
                <a:latin typeface="Montserrat"/>
                <a:ea typeface="Montserrat"/>
                <a:cs typeface="Montserrat"/>
                <a:sym typeface="Montserrat"/>
              </a:rPr>
              <a:t>recursos</a:t>
            </a:r>
            <a:r>
              <a:rPr lang="en-US" sz="1100" dirty="0">
                <a:solidFill>
                  <a:schemeClr val="lt1"/>
                </a:solidFill>
                <a:latin typeface="Montserrat"/>
                <a:ea typeface="Montserrat"/>
                <a:cs typeface="Montserrat"/>
                <a:sym typeface="Montserrat"/>
              </a:rPr>
              <a:t> a </a:t>
            </a:r>
            <a:r>
              <a:rPr lang="en-US" sz="1100" dirty="0" err="1">
                <a:solidFill>
                  <a:schemeClr val="lt1"/>
                </a:solidFill>
                <a:latin typeface="Montserrat"/>
                <a:ea typeface="Montserrat"/>
                <a:cs typeface="Montserrat"/>
                <a:sym typeface="Montserrat"/>
              </a:rPr>
              <a:t>varios</a:t>
            </a:r>
            <a:r>
              <a:rPr lang="en-US" sz="1100" dirty="0">
                <a:solidFill>
                  <a:schemeClr val="lt1"/>
                </a:solidFill>
                <a:latin typeface="Montserrat"/>
                <a:ea typeface="Montserrat"/>
                <a:cs typeface="Montserrat"/>
                <a:sym typeface="Montserrat"/>
              </a:rPr>
              <a:t> </a:t>
            </a:r>
            <a:r>
              <a:rPr lang="en-US" sz="1100" dirty="0" err="1">
                <a:solidFill>
                  <a:schemeClr val="lt1"/>
                </a:solidFill>
                <a:latin typeface="Montserrat"/>
                <a:ea typeface="Montserrat"/>
                <a:cs typeface="Montserrat"/>
                <a:sym typeface="Montserrat"/>
              </a:rPr>
              <a:t>servicios</a:t>
            </a:r>
            <a:r>
              <a:rPr lang="en-US" sz="1100" dirty="0">
                <a:solidFill>
                  <a:schemeClr val="lt1"/>
                </a:solidFill>
                <a:latin typeface="Montserrat"/>
                <a:ea typeface="Montserrat"/>
                <a:cs typeface="Montserrat"/>
                <a:sym typeface="Montserrat"/>
              </a:rPr>
              <a:t> a traves de un  solo </a:t>
            </a:r>
            <a:r>
              <a:rPr lang="en-US" sz="1100" dirty="0" err="1">
                <a:solidFill>
                  <a:schemeClr val="lt1"/>
                </a:solidFill>
                <a:latin typeface="Montserrat"/>
                <a:ea typeface="Montserrat"/>
                <a:cs typeface="Montserrat"/>
                <a:sym typeface="Montserrat"/>
              </a:rPr>
              <a:t>inicio</a:t>
            </a:r>
            <a:r>
              <a:rPr lang="en-US" sz="1100" dirty="0">
                <a:solidFill>
                  <a:schemeClr val="lt1"/>
                </a:solidFill>
                <a:latin typeface="Montserrat"/>
                <a:ea typeface="Montserrat"/>
                <a:cs typeface="Montserrat"/>
                <a:sym typeface="Montserrat"/>
              </a:rPr>
              <a:t> de </a:t>
            </a:r>
            <a:r>
              <a:rPr lang="es-MX" sz="1100" dirty="0">
                <a:solidFill>
                  <a:schemeClr val="lt1"/>
                </a:solidFill>
                <a:latin typeface="Montserrat"/>
                <a:ea typeface="Montserrat"/>
                <a:cs typeface="Montserrat"/>
                <a:sym typeface="Montserrat"/>
              </a:rPr>
              <a:t>sesión</a:t>
            </a:r>
            <a:r>
              <a:rPr lang="en-US" sz="1100" dirty="0">
                <a:solidFill>
                  <a:schemeClr val="lt1"/>
                </a:solidFill>
                <a:latin typeface="Montserrat"/>
                <a:ea typeface="Montserrat"/>
                <a:cs typeface="Montserrat"/>
                <a:sym typeface="Montserrat"/>
              </a:rPr>
              <a:t>.</a:t>
            </a:r>
          </a:p>
          <a:p>
            <a:pPr marL="171450" lvl="0" indent="-171450" algn="l" rtl="0">
              <a:spcBef>
                <a:spcPts val="0"/>
              </a:spcBef>
              <a:spcAft>
                <a:spcPts val="1200"/>
              </a:spcAft>
              <a:buFontTx/>
              <a:buChar char="-"/>
            </a:pPr>
            <a:r>
              <a:rPr lang="en-US" sz="1100" dirty="0">
                <a:solidFill>
                  <a:schemeClr val="lt1"/>
                </a:solidFill>
                <a:latin typeface="Montserrat"/>
                <a:ea typeface="Montserrat"/>
                <a:cs typeface="Montserrat"/>
                <a:sym typeface="Montserrat"/>
              </a:rPr>
              <a:t>Robusto (Bien </a:t>
            </a:r>
            <a:r>
              <a:rPr lang="en-US" sz="1100" dirty="0" err="1">
                <a:solidFill>
                  <a:schemeClr val="lt1"/>
                </a:solidFill>
                <a:latin typeface="Montserrat"/>
                <a:ea typeface="Montserrat"/>
                <a:cs typeface="Montserrat"/>
                <a:sym typeface="Montserrat"/>
              </a:rPr>
              <a:t>configurado</a:t>
            </a:r>
            <a:r>
              <a:rPr lang="en-US" sz="1100" dirty="0">
                <a:solidFill>
                  <a:schemeClr val="lt1"/>
                </a:solidFill>
                <a:latin typeface="Montserrat"/>
                <a:ea typeface="Montserrat"/>
                <a:cs typeface="Montserrat"/>
                <a:sym typeface="Montserrat"/>
              </a:rPr>
              <a:t>)</a:t>
            </a:r>
          </a:p>
          <a:p>
            <a:pPr marL="171450" lvl="0" indent="-171450" algn="l" rtl="0">
              <a:spcBef>
                <a:spcPts val="0"/>
              </a:spcBef>
              <a:spcAft>
                <a:spcPts val="1200"/>
              </a:spcAft>
              <a:buFontTx/>
              <a:buChar char="-"/>
            </a:pPr>
            <a:r>
              <a:rPr lang="en-US" sz="1100" dirty="0" err="1">
                <a:solidFill>
                  <a:schemeClr val="lt1"/>
                </a:solidFill>
                <a:latin typeface="Montserrat"/>
                <a:ea typeface="Montserrat"/>
                <a:cs typeface="Montserrat"/>
                <a:sym typeface="Montserrat"/>
              </a:rPr>
              <a:t>Escalable</a:t>
            </a:r>
            <a:endParaRPr lang="en-US" sz="1100" dirty="0">
              <a:solidFill>
                <a:schemeClr val="lt1"/>
              </a:solidFill>
              <a:latin typeface="Montserrat"/>
              <a:ea typeface="Montserrat"/>
              <a:cs typeface="Montserrat"/>
              <a:sym typeface="Montserrat"/>
            </a:endParaRPr>
          </a:p>
          <a:p>
            <a:pPr marL="171450" lvl="0" indent="-171450" algn="l" rtl="0">
              <a:spcBef>
                <a:spcPts val="0"/>
              </a:spcBef>
              <a:spcAft>
                <a:spcPts val="1200"/>
              </a:spcAft>
              <a:buFontTx/>
              <a:buChar char="-"/>
            </a:pPr>
            <a:r>
              <a:rPr lang="es-MX" sz="1100" dirty="0">
                <a:solidFill>
                  <a:schemeClr val="lt1"/>
                </a:solidFill>
                <a:latin typeface="Montserrat"/>
                <a:ea typeface="Montserrat"/>
                <a:cs typeface="Montserrat"/>
                <a:sym typeface="Montserrat"/>
              </a:rPr>
              <a:t>Soporta SSO (Inicio de sesión único)</a:t>
            </a:r>
          </a:p>
          <a:p>
            <a:pPr marL="171450" lvl="0" indent="-171450" algn="l" rtl="0">
              <a:spcBef>
                <a:spcPts val="0"/>
              </a:spcBef>
              <a:spcAft>
                <a:spcPts val="1200"/>
              </a:spcAft>
              <a:buFontTx/>
              <a:buChar char="-"/>
            </a:pPr>
            <a:endParaRPr lang="es-MX" sz="1100" dirty="0">
              <a:solidFill>
                <a:schemeClr val="lt1"/>
              </a:solidFill>
              <a:latin typeface="Montserrat"/>
              <a:ea typeface="Montserrat"/>
              <a:cs typeface="Montserrat"/>
              <a:sym typeface="Montserrat"/>
            </a:endParaRPr>
          </a:p>
        </p:txBody>
      </p:sp>
      <p:pic>
        <p:nvPicPr>
          <p:cNvPr id="73" name="Google Shape;73;p15">
            <a:extLst>
              <a:ext uri="{FF2B5EF4-FFF2-40B4-BE49-F238E27FC236}">
                <a16:creationId xmlns:a16="http://schemas.microsoft.com/office/drawing/2014/main" id="{768739FF-60C6-002E-9D07-80C9D3CFB183}"/>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grpSp>
        <p:nvGrpSpPr>
          <p:cNvPr id="5" name="Group 4">
            <a:extLst>
              <a:ext uri="{FF2B5EF4-FFF2-40B4-BE49-F238E27FC236}">
                <a16:creationId xmlns:a16="http://schemas.microsoft.com/office/drawing/2014/main" id="{11EEFF37-00C9-20C8-D58C-1989EFDDE2D0}"/>
              </a:ext>
            </a:extLst>
          </p:cNvPr>
          <p:cNvGrpSpPr/>
          <p:nvPr/>
        </p:nvGrpSpPr>
        <p:grpSpPr>
          <a:xfrm>
            <a:off x="3937481" y="156010"/>
            <a:ext cx="4498301" cy="4665786"/>
            <a:chOff x="4276148" y="30555"/>
            <a:chExt cx="4498301" cy="4665786"/>
          </a:xfrm>
        </p:grpSpPr>
        <p:sp>
          <p:nvSpPr>
            <p:cNvPr id="4" name="Rectangle 3">
              <a:extLst>
                <a:ext uri="{FF2B5EF4-FFF2-40B4-BE49-F238E27FC236}">
                  <a16:creationId xmlns:a16="http://schemas.microsoft.com/office/drawing/2014/main" id="{092AA8D1-D0A6-5A8D-393C-C09304A59814}"/>
                </a:ext>
              </a:extLst>
            </p:cNvPr>
            <p:cNvSpPr/>
            <p:nvPr/>
          </p:nvSpPr>
          <p:spPr>
            <a:xfrm>
              <a:off x="4276148" y="30555"/>
              <a:ext cx="4498301" cy="45849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omputer screen shot&#10;&#10;AI-generated content may be incorrect.">
              <a:extLst>
                <a:ext uri="{FF2B5EF4-FFF2-40B4-BE49-F238E27FC236}">
                  <a16:creationId xmlns:a16="http://schemas.microsoft.com/office/drawing/2014/main" id="{BA31101F-4BDB-F6EA-A769-2DA587A9BFC5}"/>
                </a:ext>
              </a:extLst>
            </p:cNvPr>
            <p:cNvPicPr>
              <a:picLocks noChangeAspect="1"/>
            </p:cNvPicPr>
            <p:nvPr/>
          </p:nvPicPr>
          <p:blipFill>
            <a:blip r:embed="rId5"/>
            <a:stretch>
              <a:fillRect/>
            </a:stretch>
          </p:blipFill>
          <p:spPr>
            <a:xfrm>
              <a:off x="4315417" y="30555"/>
              <a:ext cx="4419764" cy="4665786"/>
            </a:xfrm>
            <a:prstGeom prst="rect">
              <a:avLst/>
            </a:prstGeom>
          </p:spPr>
        </p:pic>
      </p:grpSp>
    </p:spTree>
    <p:extLst>
      <p:ext uri="{BB962C8B-B14F-4D97-AF65-F5344CB8AC3E}">
        <p14:creationId xmlns:p14="http://schemas.microsoft.com/office/powerpoint/2010/main" val="1568560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EBF105D5-04A7-03DA-4253-FDEA021001D8}"/>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E4CEDBC4-82BF-F621-455D-16EDFA30370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a:solidFill>
                  <a:schemeClr val="lt1"/>
                </a:solidFill>
                <a:latin typeface="Montserrat"/>
                <a:ea typeface="Montserrat"/>
                <a:cs typeface="Montserrat"/>
                <a:sym typeface="Montserrat"/>
              </a:rPr>
              <a:t>AS-REP Roasting </a:t>
            </a:r>
            <a:endParaRPr lang="en-US" b="1" dirty="0">
              <a:solidFill>
                <a:schemeClr val="lt1"/>
              </a:solidFill>
              <a:latin typeface="Montserrat"/>
              <a:ea typeface="Montserrat"/>
              <a:cs typeface="Montserrat"/>
              <a:sym typeface="Montserrat"/>
            </a:endParaRPr>
          </a:p>
        </p:txBody>
      </p:sp>
      <p:sp>
        <p:nvSpPr>
          <p:cNvPr id="65" name="Google Shape;65;p14">
            <a:extLst>
              <a:ext uri="{FF2B5EF4-FFF2-40B4-BE49-F238E27FC236}">
                <a16:creationId xmlns:a16="http://schemas.microsoft.com/office/drawing/2014/main" id="{3E52C8DC-14E9-31EB-F40C-1A074180A22B}"/>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r>
              <a:rPr lang="es-MX" dirty="0">
                <a:solidFill>
                  <a:schemeClr val="lt1"/>
                </a:solidFill>
                <a:latin typeface="Montserrat"/>
                <a:ea typeface="Montserrat"/>
                <a:cs typeface="Montserrat"/>
                <a:sym typeface="Montserrat"/>
              </a:rPr>
              <a:t>AS‑REP </a:t>
            </a:r>
            <a:r>
              <a:rPr lang="es-MX" dirty="0" err="1">
                <a:solidFill>
                  <a:schemeClr val="lt1"/>
                </a:solidFill>
                <a:latin typeface="Montserrat"/>
                <a:ea typeface="Montserrat"/>
                <a:cs typeface="Montserrat"/>
                <a:sym typeface="Montserrat"/>
              </a:rPr>
              <a:t>Roasting</a:t>
            </a:r>
            <a:r>
              <a:rPr lang="es-MX" dirty="0">
                <a:solidFill>
                  <a:schemeClr val="lt1"/>
                </a:solidFill>
                <a:latin typeface="Montserrat"/>
                <a:ea typeface="Montserrat"/>
                <a:cs typeface="Montserrat"/>
                <a:sym typeface="Montserrat"/>
              </a:rPr>
              <a:t> explota cuentas de Active </a:t>
            </a:r>
            <a:r>
              <a:rPr lang="es-MX" dirty="0" err="1">
                <a:solidFill>
                  <a:schemeClr val="lt1"/>
                </a:solidFill>
                <a:latin typeface="Montserrat"/>
                <a:ea typeface="Montserrat"/>
                <a:cs typeface="Montserrat"/>
                <a:sym typeface="Montserrat"/>
              </a:rPr>
              <a:t>Directory</a:t>
            </a:r>
            <a:r>
              <a:rPr lang="es-MX" dirty="0">
                <a:solidFill>
                  <a:schemeClr val="lt1"/>
                </a:solidFill>
                <a:latin typeface="Montserrat"/>
                <a:ea typeface="Montserrat"/>
                <a:cs typeface="Montserrat"/>
                <a:sym typeface="Montserrat"/>
              </a:rPr>
              <a:t> que no requieren la </a:t>
            </a:r>
            <a:r>
              <a:rPr lang="es-MX" dirty="0" err="1">
                <a:solidFill>
                  <a:schemeClr val="lt1"/>
                </a:solidFill>
                <a:latin typeface="Montserrat"/>
                <a:ea typeface="Montserrat"/>
                <a:cs typeface="Montserrat"/>
                <a:sym typeface="Montserrat"/>
              </a:rPr>
              <a:t>preautenticación</a:t>
            </a:r>
            <a:r>
              <a:rPr lang="es-MX" dirty="0">
                <a:solidFill>
                  <a:schemeClr val="lt1"/>
                </a:solidFill>
                <a:latin typeface="Montserrat"/>
                <a:ea typeface="Montserrat"/>
                <a:cs typeface="Montserrat"/>
                <a:sym typeface="Montserrat"/>
              </a:rPr>
              <a:t> Kerberos. (Opción </a:t>
            </a:r>
            <a:r>
              <a:rPr lang="en-US" dirty="0">
                <a:solidFill>
                  <a:schemeClr val="lt1"/>
                </a:solidFill>
                <a:latin typeface="Montserrat"/>
                <a:ea typeface="Montserrat"/>
                <a:cs typeface="Montserrat"/>
                <a:sym typeface="Montserrat"/>
              </a:rPr>
              <a:t>Do not require Kerberos </a:t>
            </a:r>
            <a:r>
              <a:rPr lang="en-US" dirty="0" err="1">
                <a:solidFill>
                  <a:schemeClr val="lt1"/>
                </a:solidFill>
                <a:latin typeface="Montserrat"/>
                <a:ea typeface="Montserrat"/>
                <a:cs typeface="Montserrat"/>
                <a:sym typeface="Montserrat"/>
              </a:rPr>
              <a:t>preauthentication</a:t>
            </a:r>
            <a:r>
              <a:rPr lang="en-US" dirty="0">
                <a:solidFill>
                  <a:schemeClr val="lt1"/>
                </a:solidFill>
                <a:latin typeface="Montserrat"/>
                <a:ea typeface="Montserrat"/>
                <a:cs typeface="Montserrat"/>
                <a:sym typeface="Montserrat"/>
              </a:rPr>
              <a:t>.</a:t>
            </a:r>
            <a:endParaRPr lang="es-MX" dirty="0">
              <a:solidFill>
                <a:schemeClr val="lt1"/>
              </a:solidFill>
              <a:latin typeface="Montserrat"/>
              <a:ea typeface="Montserrat"/>
              <a:cs typeface="Montserrat"/>
              <a:sym typeface="Montserrat"/>
            </a:endParaRPr>
          </a:p>
          <a:p>
            <a:pPr marL="285750" lvl="0" indent="-285750" algn="l" rtl="0">
              <a:spcBef>
                <a:spcPts val="0"/>
              </a:spcBef>
              <a:spcAft>
                <a:spcPts val="1200"/>
              </a:spcAft>
              <a:buFontTx/>
              <a:buChar char="-"/>
            </a:pPr>
            <a:endParaRPr dirty="0">
              <a:solidFill>
                <a:schemeClr val="lt1"/>
              </a:solidFill>
              <a:latin typeface="Montserrat Medium"/>
              <a:ea typeface="Montserrat Medium"/>
              <a:cs typeface="Montserrat Medium"/>
              <a:sym typeface="Montserrat Medium"/>
            </a:endParaRPr>
          </a:p>
        </p:txBody>
      </p:sp>
      <p:pic>
        <p:nvPicPr>
          <p:cNvPr id="66" name="Google Shape;66;p14">
            <a:extLst>
              <a:ext uri="{FF2B5EF4-FFF2-40B4-BE49-F238E27FC236}">
                <a16:creationId xmlns:a16="http://schemas.microsoft.com/office/drawing/2014/main" id="{8607693D-737E-7708-B8F2-6388BF8EB66E}"/>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pic>
        <p:nvPicPr>
          <p:cNvPr id="5" name="Picture 4" descr="A diagram of a key distribution&#10;&#10;AI-generated content may be incorrect.">
            <a:extLst>
              <a:ext uri="{FF2B5EF4-FFF2-40B4-BE49-F238E27FC236}">
                <a16:creationId xmlns:a16="http://schemas.microsoft.com/office/drawing/2014/main" id="{FD2C2CC0-271E-4B5E-F1E6-2CB5C9777382}"/>
              </a:ext>
            </a:extLst>
          </p:cNvPr>
          <p:cNvPicPr>
            <a:picLocks noChangeAspect="1"/>
          </p:cNvPicPr>
          <p:nvPr/>
        </p:nvPicPr>
        <p:blipFill>
          <a:blip r:embed="rId5"/>
          <a:stretch>
            <a:fillRect/>
          </a:stretch>
        </p:blipFill>
        <p:spPr>
          <a:xfrm>
            <a:off x="2454215" y="2408571"/>
            <a:ext cx="4235570" cy="2413225"/>
          </a:xfrm>
          <a:prstGeom prst="rect">
            <a:avLst/>
          </a:prstGeom>
        </p:spPr>
      </p:pic>
    </p:spTree>
    <p:extLst>
      <p:ext uri="{BB962C8B-B14F-4D97-AF65-F5344CB8AC3E}">
        <p14:creationId xmlns:p14="http://schemas.microsoft.com/office/powerpoint/2010/main" val="899663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4F0EB738-0F5F-D292-19FD-9638ADF14399}"/>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921EAAF0-BAE9-290C-9D91-27A31E25194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a:solidFill>
                  <a:schemeClr val="lt1"/>
                </a:solidFill>
                <a:latin typeface="Montserrat"/>
                <a:ea typeface="Montserrat"/>
                <a:cs typeface="Montserrat"/>
                <a:sym typeface="Montserrat"/>
              </a:rPr>
              <a:t>AS-REP Roasting </a:t>
            </a:r>
            <a:endParaRPr lang="en-US" b="1" dirty="0">
              <a:solidFill>
                <a:schemeClr val="lt1"/>
              </a:solidFill>
              <a:latin typeface="Montserrat"/>
              <a:ea typeface="Montserrat"/>
              <a:cs typeface="Montserrat"/>
              <a:sym typeface="Montserrat"/>
            </a:endParaRPr>
          </a:p>
        </p:txBody>
      </p:sp>
      <p:sp>
        <p:nvSpPr>
          <p:cNvPr id="65" name="Google Shape;65;p14">
            <a:extLst>
              <a:ext uri="{FF2B5EF4-FFF2-40B4-BE49-F238E27FC236}">
                <a16:creationId xmlns:a16="http://schemas.microsoft.com/office/drawing/2014/main" id="{56FE8316-9C38-5B6C-4A0B-3E0FD1178AA2}"/>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342900" lvl="0" algn="l" rtl="0">
              <a:spcBef>
                <a:spcPts val="0"/>
              </a:spcBef>
              <a:spcAft>
                <a:spcPts val="1200"/>
              </a:spcAft>
              <a:buAutoNum type="arabicPeriod"/>
            </a:pPr>
            <a:r>
              <a:rPr lang="en-US" dirty="0">
                <a:solidFill>
                  <a:schemeClr val="lt1"/>
                </a:solidFill>
                <a:latin typeface="Montserrat Medium"/>
                <a:ea typeface="Montserrat Medium"/>
                <a:cs typeface="Montserrat Medium"/>
                <a:sym typeface="Montserrat Medium"/>
              </a:rPr>
              <a:t>El </a:t>
            </a:r>
            <a:r>
              <a:rPr lang="en-US" dirty="0" err="1">
                <a:solidFill>
                  <a:schemeClr val="lt1"/>
                </a:solidFill>
                <a:latin typeface="Montserrat Medium"/>
                <a:ea typeface="Montserrat Medium"/>
                <a:cs typeface="Montserrat Medium"/>
                <a:sym typeface="Montserrat Medium"/>
              </a:rPr>
              <a:t>usuario</a:t>
            </a:r>
            <a:r>
              <a:rPr lang="en-US" dirty="0">
                <a:solidFill>
                  <a:schemeClr val="lt1"/>
                </a:solidFill>
                <a:latin typeface="Montserrat Medium"/>
                <a:ea typeface="Montserrat Medium"/>
                <a:cs typeface="Montserrat Medium"/>
                <a:sym typeface="Montserrat Medium"/>
              </a:rPr>
              <a:t> </a:t>
            </a:r>
            <a:r>
              <a:rPr lang="en-US" dirty="0" err="1">
                <a:solidFill>
                  <a:schemeClr val="lt1"/>
                </a:solidFill>
                <a:latin typeface="Montserrat Medium"/>
                <a:ea typeface="Montserrat Medium"/>
                <a:cs typeface="Montserrat Medium"/>
                <a:sym typeface="Montserrat Medium"/>
              </a:rPr>
              <a:t>solitica</a:t>
            </a:r>
            <a:r>
              <a:rPr lang="en-US" dirty="0">
                <a:solidFill>
                  <a:schemeClr val="lt1"/>
                </a:solidFill>
                <a:latin typeface="Montserrat Medium"/>
                <a:ea typeface="Montserrat Medium"/>
                <a:cs typeface="Montserrat Medium"/>
                <a:sym typeface="Montserrat Medium"/>
              </a:rPr>
              <a:t> un Ticket de </a:t>
            </a:r>
            <a:r>
              <a:rPr lang="en-US" dirty="0" err="1">
                <a:solidFill>
                  <a:schemeClr val="lt1"/>
                </a:solidFill>
                <a:latin typeface="Montserrat Medium"/>
                <a:ea typeface="Montserrat Medium"/>
                <a:cs typeface="Montserrat Medium"/>
                <a:sym typeface="Montserrat Medium"/>
              </a:rPr>
              <a:t>Autenticacion</a:t>
            </a:r>
            <a:r>
              <a:rPr lang="en-US" dirty="0">
                <a:solidFill>
                  <a:schemeClr val="lt1"/>
                </a:solidFill>
                <a:latin typeface="Montserrat Medium"/>
                <a:ea typeface="Montserrat Medium"/>
                <a:cs typeface="Montserrat Medium"/>
                <a:sym typeface="Montserrat Medium"/>
              </a:rPr>
              <a:t> (AS-REP) para la </a:t>
            </a:r>
            <a:r>
              <a:rPr lang="en-US" dirty="0" err="1">
                <a:solidFill>
                  <a:schemeClr val="lt1"/>
                </a:solidFill>
                <a:latin typeface="Montserrat Medium"/>
                <a:ea typeface="Montserrat Medium"/>
                <a:cs typeface="Montserrat Medium"/>
                <a:sym typeface="Montserrat Medium"/>
              </a:rPr>
              <a:t>cuenta</a:t>
            </a:r>
            <a:r>
              <a:rPr lang="en-US" dirty="0">
                <a:solidFill>
                  <a:schemeClr val="lt1"/>
                </a:solidFill>
                <a:latin typeface="Montserrat Medium"/>
                <a:ea typeface="Montserrat Medium"/>
                <a:cs typeface="Montserrat Medium"/>
                <a:sym typeface="Montserrat Medium"/>
              </a:rPr>
              <a:t> </a:t>
            </a:r>
            <a:r>
              <a:rPr lang="en-US" dirty="0" err="1">
                <a:solidFill>
                  <a:schemeClr val="lt1"/>
                </a:solidFill>
                <a:latin typeface="Montserrat Medium"/>
                <a:ea typeface="Montserrat Medium"/>
                <a:cs typeface="Montserrat Medium"/>
                <a:sym typeface="Montserrat Medium"/>
              </a:rPr>
              <a:t>afectada</a:t>
            </a:r>
            <a:r>
              <a:rPr lang="en-US" dirty="0">
                <a:solidFill>
                  <a:schemeClr val="lt1"/>
                </a:solidFill>
                <a:latin typeface="Montserrat Medium"/>
                <a:ea typeface="Montserrat Medium"/>
                <a:cs typeface="Montserrat Medium"/>
                <a:sym typeface="Montserrat Medium"/>
              </a:rPr>
              <a:t> sin </a:t>
            </a:r>
            <a:r>
              <a:rPr lang="en-US" dirty="0" err="1">
                <a:solidFill>
                  <a:schemeClr val="lt1"/>
                </a:solidFill>
                <a:latin typeface="Montserrat Medium"/>
                <a:ea typeface="Montserrat Medium"/>
                <a:cs typeface="Montserrat Medium"/>
                <a:sym typeface="Montserrat Medium"/>
              </a:rPr>
              <a:t>conocer</a:t>
            </a:r>
            <a:r>
              <a:rPr lang="en-US" dirty="0">
                <a:solidFill>
                  <a:schemeClr val="lt1"/>
                </a:solidFill>
                <a:latin typeface="Montserrat Medium"/>
                <a:ea typeface="Montserrat Medium"/>
                <a:cs typeface="Montserrat Medium"/>
                <a:sym typeface="Montserrat Medium"/>
              </a:rPr>
              <a:t> </a:t>
            </a:r>
            <a:r>
              <a:rPr lang="en-US" dirty="0" err="1">
                <a:solidFill>
                  <a:schemeClr val="lt1"/>
                </a:solidFill>
                <a:latin typeface="Montserrat Medium"/>
                <a:ea typeface="Montserrat Medium"/>
                <a:cs typeface="Montserrat Medium"/>
                <a:sym typeface="Montserrat Medium"/>
              </a:rPr>
              <a:t>su</a:t>
            </a:r>
            <a:r>
              <a:rPr lang="en-US" dirty="0">
                <a:solidFill>
                  <a:schemeClr val="lt1"/>
                </a:solidFill>
                <a:latin typeface="Montserrat Medium"/>
                <a:ea typeface="Montserrat Medium"/>
                <a:cs typeface="Montserrat Medium"/>
                <a:sym typeface="Montserrat Medium"/>
              </a:rPr>
              <a:t> </a:t>
            </a:r>
            <a:r>
              <a:rPr lang="en-US" dirty="0" err="1">
                <a:solidFill>
                  <a:schemeClr val="lt1"/>
                </a:solidFill>
                <a:latin typeface="Montserrat Medium"/>
                <a:ea typeface="Montserrat Medium"/>
                <a:cs typeface="Montserrat Medium"/>
                <a:sym typeface="Montserrat Medium"/>
              </a:rPr>
              <a:t>contrase</a:t>
            </a:r>
            <a:r>
              <a:rPr lang="es-MX" dirty="0" err="1">
                <a:solidFill>
                  <a:schemeClr val="lt1"/>
                </a:solidFill>
                <a:latin typeface="Montserrat Medium"/>
                <a:ea typeface="Montserrat Medium"/>
                <a:cs typeface="Montserrat Medium"/>
                <a:sym typeface="Montserrat Medium"/>
              </a:rPr>
              <a:t>ña</a:t>
            </a:r>
            <a:r>
              <a:rPr lang="es-MX" dirty="0">
                <a:solidFill>
                  <a:schemeClr val="lt1"/>
                </a:solidFill>
                <a:latin typeface="Montserrat Medium"/>
                <a:ea typeface="Montserrat Medium"/>
                <a:cs typeface="Montserrat Medium"/>
                <a:sym typeface="Montserrat Medium"/>
              </a:rPr>
              <a:t>.</a:t>
            </a:r>
          </a:p>
          <a:p>
            <a:pPr marL="342900" lvl="0" algn="l" rtl="0">
              <a:spcBef>
                <a:spcPts val="0"/>
              </a:spcBef>
              <a:spcAft>
                <a:spcPts val="1200"/>
              </a:spcAft>
              <a:buAutoNum type="arabicPeriod"/>
            </a:pPr>
            <a:r>
              <a:rPr lang="es-MX" dirty="0">
                <a:solidFill>
                  <a:schemeClr val="lt1"/>
                </a:solidFill>
                <a:latin typeface="Montserrat Medium"/>
                <a:ea typeface="Montserrat Medium"/>
                <a:cs typeface="Montserrat Medium"/>
                <a:sym typeface="Montserrat Medium"/>
              </a:rPr>
              <a:t>El AD responde con un mensaje cifrado derivada de la contraseña de la cuenta afectada.</a:t>
            </a:r>
          </a:p>
          <a:p>
            <a:pPr marL="342900" lvl="0" algn="l" rtl="0">
              <a:spcBef>
                <a:spcPts val="0"/>
              </a:spcBef>
              <a:spcAft>
                <a:spcPts val="1200"/>
              </a:spcAft>
              <a:buAutoNum type="arabicPeriod"/>
            </a:pPr>
            <a:r>
              <a:rPr lang="es-MX" dirty="0">
                <a:solidFill>
                  <a:schemeClr val="lt1"/>
                </a:solidFill>
                <a:latin typeface="Montserrat Medium"/>
                <a:ea typeface="Montserrat Medium"/>
                <a:cs typeface="Montserrat Medium"/>
                <a:sym typeface="Montserrat Medium"/>
              </a:rPr>
              <a:t>Este ticket puede ser utilizado para tratar de crackear el ticket, y obtener la contraseña de la cuenta afectada.</a:t>
            </a:r>
          </a:p>
        </p:txBody>
      </p:sp>
      <p:pic>
        <p:nvPicPr>
          <p:cNvPr id="66" name="Google Shape;66;p14">
            <a:extLst>
              <a:ext uri="{FF2B5EF4-FFF2-40B4-BE49-F238E27FC236}">
                <a16:creationId xmlns:a16="http://schemas.microsoft.com/office/drawing/2014/main" id="{6AB5F1F9-64FF-7A02-7A77-99E375A6F91B}"/>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222965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74573F7B-2654-E498-4630-89ABBBE33304}"/>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BA900495-484C-B441-BE93-31203899595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MX" b="1" dirty="0">
                <a:solidFill>
                  <a:schemeClr val="lt1"/>
                </a:solidFill>
                <a:latin typeface="Montserrat"/>
                <a:ea typeface="Montserrat"/>
                <a:cs typeface="Montserrat"/>
                <a:sym typeface="Montserrat"/>
              </a:rPr>
              <a:t>A</a:t>
            </a:r>
            <a:r>
              <a:rPr lang="en-US" b="1" dirty="0">
                <a:solidFill>
                  <a:schemeClr val="lt1"/>
                </a:solidFill>
                <a:latin typeface="Montserrat"/>
                <a:ea typeface="Montserrat"/>
                <a:cs typeface="Montserrat"/>
                <a:sym typeface="Montserrat"/>
              </a:rPr>
              <a:t>S-REP Roasting</a:t>
            </a:r>
          </a:p>
        </p:txBody>
      </p:sp>
      <p:sp>
        <p:nvSpPr>
          <p:cNvPr id="65" name="Google Shape;65;p14">
            <a:extLst>
              <a:ext uri="{FF2B5EF4-FFF2-40B4-BE49-F238E27FC236}">
                <a16:creationId xmlns:a16="http://schemas.microsoft.com/office/drawing/2014/main" id="{8E8D74CA-9AD0-E5A1-B543-FB2946D00642}"/>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342900" lvl="0" algn="l" rtl="0">
              <a:spcBef>
                <a:spcPts val="0"/>
              </a:spcBef>
              <a:spcAft>
                <a:spcPts val="1200"/>
              </a:spcAft>
              <a:buAutoNum type="arabicPeriod"/>
            </a:pPr>
            <a:r>
              <a:rPr lang="es-MX" dirty="0">
                <a:solidFill>
                  <a:schemeClr val="lt1"/>
                </a:solidFill>
                <a:latin typeface="Montserrat Medium"/>
                <a:ea typeface="Montserrat Medium"/>
                <a:cs typeface="Montserrat Medium"/>
                <a:sym typeface="Montserrat Medium"/>
              </a:rPr>
              <a:t>No utilice el </a:t>
            </a:r>
            <a:r>
              <a:rPr lang="es-MX" dirty="0" err="1">
                <a:solidFill>
                  <a:schemeClr val="lt1"/>
                </a:solidFill>
                <a:latin typeface="Montserrat Medium"/>
                <a:ea typeface="Montserrat Medium"/>
                <a:cs typeface="Montserrat Medium"/>
                <a:sym typeface="Montserrat Medium"/>
              </a:rPr>
              <a:t>flag</a:t>
            </a:r>
            <a:r>
              <a:rPr lang="es-MX" dirty="0">
                <a:solidFill>
                  <a:schemeClr val="lt1"/>
                </a:solidFill>
                <a:latin typeface="Montserrat Medium"/>
                <a:ea typeface="Montserrat Medium"/>
                <a:cs typeface="Montserrat Medium"/>
                <a:sym typeface="Montserrat Medium"/>
              </a:rPr>
              <a:t> DONT_REQ_PREAUTH. </a:t>
            </a:r>
          </a:p>
          <a:p>
            <a:pPr marL="342900" lvl="0" algn="l" rtl="0">
              <a:spcBef>
                <a:spcPts val="0"/>
              </a:spcBef>
              <a:spcAft>
                <a:spcPts val="1200"/>
              </a:spcAft>
              <a:buAutoNum type="arabicPeriod"/>
            </a:pPr>
            <a:r>
              <a:rPr lang="es-MX" dirty="0">
                <a:solidFill>
                  <a:schemeClr val="lt1"/>
                </a:solidFill>
                <a:latin typeface="Montserrat Medium"/>
                <a:ea typeface="Montserrat Medium"/>
                <a:cs typeface="Montserrat Medium"/>
                <a:sym typeface="Montserrat Medium"/>
              </a:rPr>
              <a:t>Si es muy necesario, asignar una contraseña muy robusta al usuario con este </a:t>
            </a:r>
            <a:r>
              <a:rPr lang="es-MX" dirty="0" err="1">
                <a:solidFill>
                  <a:schemeClr val="lt1"/>
                </a:solidFill>
                <a:latin typeface="Montserrat Medium"/>
                <a:ea typeface="Montserrat Medium"/>
                <a:cs typeface="Montserrat Medium"/>
                <a:sym typeface="Montserrat Medium"/>
              </a:rPr>
              <a:t>flag</a:t>
            </a:r>
            <a:r>
              <a:rPr lang="es-MX" dirty="0">
                <a:solidFill>
                  <a:schemeClr val="lt1"/>
                </a:solidFill>
                <a:latin typeface="Montserrat Medium"/>
                <a:ea typeface="Montserrat Medium"/>
                <a:cs typeface="Montserrat Medium"/>
                <a:sym typeface="Montserrat Medium"/>
              </a:rPr>
              <a:t>.</a:t>
            </a:r>
          </a:p>
          <a:p>
            <a:pPr marL="342900" lvl="0" algn="l" rtl="0">
              <a:spcBef>
                <a:spcPts val="0"/>
              </a:spcBef>
              <a:spcAft>
                <a:spcPts val="1200"/>
              </a:spcAft>
              <a:buAutoNum type="arabicPeriod"/>
            </a:pPr>
            <a:r>
              <a:rPr lang="es-MX" dirty="0">
                <a:solidFill>
                  <a:schemeClr val="lt1"/>
                </a:solidFill>
                <a:latin typeface="Montserrat Medium"/>
                <a:ea typeface="Montserrat Medium"/>
                <a:cs typeface="Montserrat Medium"/>
                <a:sym typeface="Montserrat Medium"/>
              </a:rPr>
              <a:t>Auditoria para verificar que no hayas cuentas con este </a:t>
            </a:r>
            <a:r>
              <a:rPr lang="es-MX" dirty="0" err="1">
                <a:solidFill>
                  <a:schemeClr val="lt1"/>
                </a:solidFill>
                <a:latin typeface="Montserrat Medium"/>
                <a:ea typeface="Montserrat Medium"/>
                <a:cs typeface="Montserrat Medium"/>
                <a:sym typeface="Montserrat Medium"/>
              </a:rPr>
              <a:t>flag</a:t>
            </a:r>
            <a:r>
              <a:rPr lang="es-MX" dirty="0">
                <a:solidFill>
                  <a:schemeClr val="lt1"/>
                </a:solidFill>
                <a:latin typeface="Montserrat Medium"/>
                <a:ea typeface="Montserrat Medium"/>
                <a:cs typeface="Montserrat Medium"/>
                <a:sym typeface="Montserrat Medium"/>
              </a:rPr>
              <a:t>, sin necesidad.</a:t>
            </a:r>
          </a:p>
        </p:txBody>
      </p:sp>
      <p:pic>
        <p:nvPicPr>
          <p:cNvPr id="66" name="Google Shape;66;p14">
            <a:extLst>
              <a:ext uri="{FF2B5EF4-FFF2-40B4-BE49-F238E27FC236}">
                <a16:creationId xmlns:a16="http://schemas.microsoft.com/office/drawing/2014/main" id="{B0439FE2-4BB3-0C12-C25B-81709A49718C}"/>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1583703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CA6FD5CF-3AB8-CED5-6858-4BE5664A2A8E}"/>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FC7AFEE7-1FB3-6C84-5DD4-DEEF3E8F1715}"/>
              </a:ext>
            </a:extLst>
          </p:cNvPr>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b="1" dirty="0">
                <a:solidFill>
                  <a:schemeClr val="lt1"/>
                </a:solidFill>
                <a:latin typeface="Montserrat"/>
                <a:ea typeface="Montserrat"/>
                <a:cs typeface="Montserrat"/>
                <a:sym typeface="Montserrat"/>
              </a:rPr>
              <a:t>Demo</a:t>
            </a:r>
          </a:p>
        </p:txBody>
      </p:sp>
      <p:pic>
        <p:nvPicPr>
          <p:cNvPr id="66" name="Google Shape;66;p14">
            <a:extLst>
              <a:ext uri="{FF2B5EF4-FFF2-40B4-BE49-F238E27FC236}">
                <a16:creationId xmlns:a16="http://schemas.microsoft.com/office/drawing/2014/main" id="{A2278992-A14A-F119-C0C8-E557601BB4E7}"/>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17067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2315E573-4D0B-EC1E-4C3B-F23BF34401EF}"/>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CEB4269B-EE1F-7E8E-3CEA-292907B43EE7}"/>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err="1">
                <a:solidFill>
                  <a:schemeClr val="lt1"/>
                </a:solidFill>
                <a:latin typeface="Montserrat"/>
                <a:ea typeface="Montserrat"/>
                <a:cs typeface="Montserrat"/>
                <a:sym typeface="Montserrat"/>
              </a:rPr>
              <a:t>Kerberoasting</a:t>
            </a:r>
            <a:endParaRPr lang="en-US" b="1" dirty="0">
              <a:solidFill>
                <a:schemeClr val="lt1"/>
              </a:solidFill>
              <a:latin typeface="Montserrat"/>
              <a:ea typeface="Montserrat"/>
              <a:cs typeface="Montserrat"/>
              <a:sym typeface="Montserrat"/>
            </a:endParaRPr>
          </a:p>
        </p:txBody>
      </p:sp>
      <p:sp>
        <p:nvSpPr>
          <p:cNvPr id="65" name="Google Shape;65;p14">
            <a:extLst>
              <a:ext uri="{FF2B5EF4-FFF2-40B4-BE49-F238E27FC236}">
                <a16:creationId xmlns:a16="http://schemas.microsoft.com/office/drawing/2014/main" id="{C0FDAF86-1F98-BDEB-CCE9-A68EAB7BA1D5}"/>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r>
              <a:rPr lang="es-MX" dirty="0">
                <a:solidFill>
                  <a:schemeClr val="lt1"/>
                </a:solidFill>
                <a:latin typeface="Montserrat"/>
                <a:ea typeface="Montserrat"/>
                <a:cs typeface="Montserrat"/>
                <a:sym typeface="Montserrat"/>
              </a:rPr>
              <a:t>Dirigido a cuentas de servicio en AD que poseen un (</a:t>
            </a:r>
            <a:r>
              <a:rPr lang="es-MX" dirty="0" err="1">
                <a:solidFill>
                  <a:schemeClr val="lt1"/>
                </a:solidFill>
                <a:latin typeface="Montserrat"/>
                <a:ea typeface="Montserrat"/>
                <a:cs typeface="Montserrat"/>
                <a:sym typeface="Montserrat"/>
              </a:rPr>
              <a:t>Service</a:t>
            </a:r>
            <a:r>
              <a:rPr lang="es-MX" dirty="0">
                <a:solidFill>
                  <a:schemeClr val="lt1"/>
                </a:solidFill>
                <a:latin typeface="Montserrat"/>
                <a:ea typeface="Montserrat"/>
                <a:cs typeface="Montserrat"/>
                <a:sym typeface="Montserrat"/>
              </a:rPr>
              <a:t> Principal </a:t>
            </a:r>
            <a:r>
              <a:rPr lang="es-MX" dirty="0" err="1">
                <a:solidFill>
                  <a:schemeClr val="lt1"/>
                </a:solidFill>
                <a:latin typeface="Montserrat"/>
                <a:ea typeface="Montserrat"/>
                <a:cs typeface="Montserrat"/>
                <a:sym typeface="Montserrat"/>
              </a:rPr>
              <a:t>Name</a:t>
            </a:r>
            <a:r>
              <a:rPr lang="en-US" dirty="0">
                <a:solidFill>
                  <a:schemeClr val="lt1"/>
                </a:solidFill>
                <a:latin typeface="Montserrat"/>
                <a:ea typeface="Montserrat"/>
                <a:cs typeface="Montserrat"/>
                <a:sym typeface="Montserrat"/>
              </a:rPr>
              <a:t>)</a:t>
            </a:r>
            <a:r>
              <a:rPr lang="es-MX" dirty="0">
                <a:solidFill>
                  <a:schemeClr val="lt1"/>
                </a:solidFill>
                <a:latin typeface="Montserrat"/>
                <a:ea typeface="Montserrat"/>
                <a:cs typeface="Montserrat"/>
                <a:sym typeface="Montserrat"/>
              </a:rPr>
              <a:t> registrada.</a:t>
            </a:r>
          </a:p>
          <a:p>
            <a:pPr marL="0" indent="0">
              <a:spcAft>
                <a:spcPts val="1200"/>
              </a:spcAft>
              <a:buNone/>
            </a:pPr>
            <a:r>
              <a:rPr lang="es-MX" dirty="0" err="1">
                <a:solidFill>
                  <a:schemeClr val="lt1"/>
                </a:solidFill>
                <a:latin typeface="Montserrat"/>
                <a:ea typeface="Montserrat"/>
                <a:cs typeface="Montserrat"/>
                <a:sym typeface="Montserrat"/>
              </a:rPr>
              <a:t>Kerberoasting</a:t>
            </a:r>
            <a:r>
              <a:rPr lang="es-MX" dirty="0">
                <a:solidFill>
                  <a:schemeClr val="lt1"/>
                </a:solidFill>
                <a:latin typeface="Montserrat"/>
                <a:ea typeface="Montserrat"/>
                <a:cs typeface="Montserrat"/>
                <a:sym typeface="Montserrat"/>
              </a:rPr>
              <a:t> aprovecha esta mecánica: un usuario malintencionado, con credenciales de bajo privilegio en el dominio, solicita tickets de todos los servicios configurados (</a:t>
            </a:r>
            <a:r>
              <a:rPr lang="es-MX" dirty="0" err="1">
                <a:solidFill>
                  <a:schemeClr val="lt1"/>
                </a:solidFill>
                <a:latin typeface="Montserrat"/>
                <a:ea typeface="Montserrat"/>
                <a:cs typeface="Montserrat"/>
                <a:sym typeface="Montserrat"/>
              </a:rPr>
              <a:t>SPNs</a:t>
            </a:r>
            <a:r>
              <a:rPr lang="es-MX" dirty="0">
                <a:solidFill>
                  <a:schemeClr val="lt1"/>
                </a:solidFill>
                <a:latin typeface="Montserrat"/>
                <a:ea typeface="Montserrat"/>
                <a:cs typeface="Montserrat"/>
                <a:sym typeface="Montserrat"/>
              </a:rPr>
              <a:t>) y recopila los TGS resultantes​.</a:t>
            </a:r>
          </a:p>
          <a:p>
            <a:pPr marL="0" indent="0">
              <a:spcAft>
                <a:spcPts val="1200"/>
              </a:spcAft>
              <a:buNone/>
            </a:pPr>
            <a:endParaRPr lang="es-MX" dirty="0">
              <a:solidFill>
                <a:schemeClr val="lt1"/>
              </a:solidFill>
              <a:latin typeface="Montserrat"/>
              <a:ea typeface="Montserrat"/>
              <a:cs typeface="Montserrat"/>
              <a:sym typeface="Montserrat"/>
            </a:endParaRPr>
          </a:p>
        </p:txBody>
      </p:sp>
      <p:pic>
        <p:nvPicPr>
          <p:cNvPr id="66" name="Google Shape;66;p14">
            <a:extLst>
              <a:ext uri="{FF2B5EF4-FFF2-40B4-BE49-F238E27FC236}">
                <a16:creationId xmlns:a16="http://schemas.microsoft.com/office/drawing/2014/main" id="{5067E6FD-1F79-4013-209F-4F1954DE99CA}"/>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629639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4C538F9A-9D7F-9059-007A-AAE31C83F029}"/>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3E015433-2F82-2160-81A0-6B76D206DBD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err="1">
                <a:solidFill>
                  <a:schemeClr val="lt1"/>
                </a:solidFill>
                <a:latin typeface="Montserrat"/>
                <a:ea typeface="Montserrat"/>
                <a:cs typeface="Montserrat"/>
                <a:sym typeface="Montserrat"/>
              </a:rPr>
              <a:t>Kerberoasting</a:t>
            </a:r>
            <a:r>
              <a:rPr lang="en-US" b="1" dirty="0">
                <a:solidFill>
                  <a:schemeClr val="lt1"/>
                </a:solidFill>
                <a:latin typeface="Montserrat"/>
                <a:ea typeface="Montserrat"/>
                <a:cs typeface="Montserrat"/>
                <a:sym typeface="Montserrat"/>
              </a:rPr>
              <a:t> </a:t>
            </a:r>
          </a:p>
        </p:txBody>
      </p:sp>
      <p:sp>
        <p:nvSpPr>
          <p:cNvPr id="65" name="Google Shape;65;p14">
            <a:extLst>
              <a:ext uri="{FF2B5EF4-FFF2-40B4-BE49-F238E27FC236}">
                <a16:creationId xmlns:a16="http://schemas.microsoft.com/office/drawing/2014/main" id="{B50EC621-2AE2-C269-2ABE-D9F86C57C224}"/>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endParaRPr lang="es-MX" dirty="0">
              <a:solidFill>
                <a:schemeClr val="lt1"/>
              </a:solidFill>
              <a:latin typeface="Montserrat"/>
              <a:ea typeface="Montserrat"/>
              <a:cs typeface="Montserrat"/>
              <a:sym typeface="Montserrat"/>
            </a:endParaRPr>
          </a:p>
          <a:p>
            <a:pPr marL="0" indent="0">
              <a:spcAft>
                <a:spcPts val="1200"/>
              </a:spcAft>
              <a:buNone/>
            </a:pPr>
            <a:r>
              <a:rPr lang="es-MX" dirty="0">
                <a:solidFill>
                  <a:schemeClr val="lt1"/>
                </a:solidFill>
                <a:latin typeface="Montserrat"/>
                <a:ea typeface="Montserrat"/>
                <a:cs typeface="Montserrat"/>
                <a:sym typeface="Montserrat"/>
              </a:rPr>
              <a:t>    Usar contraseñas largas y complejas para cuentas con SPN o es fundamental</a:t>
            </a:r>
          </a:p>
          <a:p>
            <a:pPr marL="0" indent="0">
              <a:spcAft>
                <a:spcPts val="1200"/>
              </a:spcAft>
              <a:buNone/>
            </a:pPr>
            <a:r>
              <a:rPr lang="es-MX" dirty="0">
                <a:solidFill>
                  <a:schemeClr val="lt1"/>
                </a:solidFill>
                <a:latin typeface="Montserrat"/>
                <a:ea typeface="Montserrat"/>
                <a:cs typeface="Montserrat"/>
                <a:sym typeface="Montserrat"/>
              </a:rPr>
              <a:t>    Aplicar el principio de privilegio mínimo a cuentas de servicio: No dar mas permisos de los necesarios.</a:t>
            </a:r>
          </a:p>
          <a:p>
            <a:pPr marL="0" indent="0">
              <a:spcAft>
                <a:spcPts val="1200"/>
              </a:spcAft>
              <a:buNone/>
            </a:pPr>
            <a:endParaRPr lang="es-MX" dirty="0">
              <a:solidFill>
                <a:schemeClr val="lt1"/>
              </a:solidFill>
              <a:latin typeface="Montserrat"/>
              <a:ea typeface="Montserrat"/>
              <a:cs typeface="Montserrat"/>
              <a:sym typeface="Montserrat"/>
            </a:endParaRPr>
          </a:p>
        </p:txBody>
      </p:sp>
      <p:pic>
        <p:nvPicPr>
          <p:cNvPr id="66" name="Google Shape;66;p14">
            <a:extLst>
              <a:ext uri="{FF2B5EF4-FFF2-40B4-BE49-F238E27FC236}">
                <a16:creationId xmlns:a16="http://schemas.microsoft.com/office/drawing/2014/main" id="{295178AF-36B0-045D-A474-06E17C495569}"/>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295703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FF6F6EAC-E3DA-274E-4DDA-5DC6D1680A95}"/>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5E481AF4-A8F3-FC42-4E91-7FFBE2018491}"/>
              </a:ext>
            </a:extLst>
          </p:cNvPr>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b="1" dirty="0">
                <a:solidFill>
                  <a:schemeClr val="lt1"/>
                </a:solidFill>
                <a:latin typeface="Montserrat"/>
                <a:ea typeface="Montserrat"/>
                <a:cs typeface="Montserrat"/>
                <a:sym typeface="Montserrat"/>
              </a:rPr>
              <a:t>Demo</a:t>
            </a:r>
          </a:p>
        </p:txBody>
      </p:sp>
      <p:pic>
        <p:nvPicPr>
          <p:cNvPr id="66" name="Google Shape;66;p14">
            <a:extLst>
              <a:ext uri="{FF2B5EF4-FFF2-40B4-BE49-F238E27FC236}">
                <a16:creationId xmlns:a16="http://schemas.microsoft.com/office/drawing/2014/main" id="{F5674E7A-3F05-8933-B6DA-065D7B1B5808}"/>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2788762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CE278E5C-423D-CE6D-77F7-9BC19B9EBC61}"/>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E96C0A4E-58DD-969D-3CA2-3F2AB2C1BD8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lt1"/>
                </a:solidFill>
                <a:latin typeface="Montserrat"/>
                <a:ea typeface="Montserrat"/>
                <a:cs typeface="Montserrat"/>
                <a:sym typeface="Montserrat"/>
              </a:rPr>
              <a:t>LLMNR Poisoning</a:t>
            </a:r>
          </a:p>
        </p:txBody>
      </p:sp>
      <p:sp>
        <p:nvSpPr>
          <p:cNvPr id="65" name="Google Shape;65;p14">
            <a:extLst>
              <a:ext uri="{FF2B5EF4-FFF2-40B4-BE49-F238E27FC236}">
                <a16:creationId xmlns:a16="http://schemas.microsoft.com/office/drawing/2014/main" id="{715E47BF-86FF-1E69-946F-6F6D24383886}"/>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r>
              <a:rPr lang="es-MX" dirty="0">
                <a:solidFill>
                  <a:schemeClr val="lt1"/>
                </a:solidFill>
                <a:latin typeface="Montserrat"/>
                <a:ea typeface="Montserrat"/>
                <a:cs typeface="Montserrat"/>
                <a:sym typeface="Montserrat"/>
              </a:rPr>
              <a:t>El ataque de envenenamiento de LLMNR (Link-Local </a:t>
            </a:r>
            <a:r>
              <a:rPr lang="es-MX" dirty="0" err="1">
                <a:solidFill>
                  <a:schemeClr val="lt1"/>
                </a:solidFill>
                <a:latin typeface="Montserrat"/>
                <a:ea typeface="Montserrat"/>
                <a:cs typeface="Montserrat"/>
                <a:sym typeface="Montserrat"/>
              </a:rPr>
              <a:t>Multicast</a:t>
            </a:r>
            <a:r>
              <a:rPr lang="es-MX" dirty="0">
                <a:solidFill>
                  <a:schemeClr val="lt1"/>
                </a:solidFill>
                <a:latin typeface="Montserrat"/>
                <a:ea typeface="Montserrat"/>
                <a:cs typeface="Montserrat"/>
                <a:sym typeface="Montserrat"/>
              </a:rPr>
              <a:t> </a:t>
            </a:r>
            <a:r>
              <a:rPr lang="es-MX" dirty="0" err="1">
                <a:solidFill>
                  <a:schemeClr val="lt1"/>
                </a:solidFill>
                <a:latin typeface="Montserrat"/>
                <a:ea typeface="Montserrat"/>
                <a:cs typeface="Montserrat"/>
                <a:sym typeface="Montserrat"/>
              </a:rPr>
              <a:t>Name</a:t>
            </a:r>
            <a:r>
              <a:rPr lang="es-MX" dirty="0">
                <a:solidFill>
                  <a:schemeClr val="lt1"/>
                </a:solidFill>
                <a:latin typeface="Montserrat"/>
                <a:ea typeface="Montserrat"/>
                <a:cs typeface="Montserrat"/>
                <a:sym typeface="Montserrat"/>
              </a:rPr>
              <a:t> </a:t>
            </a:r>
            <a:r>
              <a:rPr lang="es-MX" dirty="0" err="1">
                <a:solidFill>
                  <a:schemeClr val="lt1"/>
                </a:solidFill>
                <a:latin typeface="Montserrat"/>
                <a:ea typeface="Montserrat"/>
                <a:cs typeface="Montserrat"/>
                <a:sym typeface="Montserrat"/>
              </a:rPr>
              <a:t>Resolution</a:t>
            </a:r>
            <a:r>
              <a:rPr lang="es-MX" dirty="0">
                <a:solidFill>
                  <a:schemeClr val="lt1"/>
                </a:solidFill>
                <a:latin typeface="Montserrat"/>
                <a:ea typeface="Montserrat"/>
                <a:cs typeface="Montserrat"/>
                <a:sym typeface="Montserrat"/>
              </a:rPr>
              <a:t>) explota un mecanismo de resolución de nombres en redes Windows.</a:t>
            </a:r>
          </a:p>
          <a:p>
            <a:pPr marL="0" indent="0">
              <a:spcAft>
                <a:spcPts val="1200"/>
              </a:spcAft>
              <a:buNone/>
            </a:pPr>
            <a:r>
              <a:rPr lang="es-MX" dirty="0">
                <a:solidFill>
                  <a:schemeClr val="lt1"/>
                </a:solidFill>
                <a:latin typeface="Montserrat"/>
                <a:ea typeface="Montserrat"/>
                <a:cs typeface="Montserrat"/>
                <a:sym typeface="Montserrat"/>
              </a:rPr>
              <a:t>Por ejemplo, si un usuario busca el recurso \\servidor su PC emitiría un mensaje LLMNR preguntando por servidor. El atacante (ejecutando una herramienta como Responder) responde diciendo “Yo soy ese servidor” y el equipo de la víctima, creyéndole, intenta autenticarse contra el atacante.</a:t>
            </a:r>
          </a:p>
        </p:txBody>
      </p:sp>
      <p:pic>
        <p:nvPicPr>
          <p:cNvPr id="66" name="Google Shape;66;p14">
            <a:extLst>
              <a:ext uri="{FF2B5EF4-FFF2-40B4-BE49-F238E27FC236}">
                <a16:creationId xmlns:a16="http://schemas.microsoft.com/office/drawing/2014/main" id="{89CDACA1-6753-D4FC-4423-054B1F4708D8}"/>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2079123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
          <a:extLst>
            <a:ext uri="{FF2B5EF4-FFF2-40B4-BE49-F238E27FC236}">
              <a16:creationId xmlns:a16="http://schemas.microsoft.com/office/drawing/2014/main" id="{95547EDC-66F7-3EC4-7689-6234B12D4C17}"/>
            </a:ext>
          </a:extLst>
        </p:cNvPr>
        <p:cNvGrpSpPr/>
        <p:nvPr/>
      </p:nvGrpSpPr>
      <p:grpSpPr>
        <a:xfrm>
          <a:off x="0" y="0"/>
          <a:ext cx="0" cy="0"/>
          <a:chOff x="0" y="0"/>
          <a:chExt cx="0" cy="0"/>
        </a:xfrm>
      </p:grpSpPr>
      <p:sp>
        <p:nvSpPr>
          <p:cNvPr id="71" name="Google Shape;71;p15">
            <a:extLst>
              <a:ext uri="{FF2B5EF4-FFF2-40B4-BE49-F238E27FC236}">
                <a16:creationId xmlns:a16="http://schemas.microsoft.com/office/drawing/2014/main" id="{E92BBD9C-8005-F10B-8F53-A6C3A48B8D6E}"/>
              </a:ext>
            </a:extLst>
          </p:cNvPr>
          <p:cNvSpPr txBox="1">
            <a:spLocks noGrp="1"/>
          </p:cNvSpPr>
          <p:nvPr>
            <p:ph type="title"/>
          </p:nvPr>
        </p:nvSpPr>
        <p:spPr>
          <a:xfrm>
            <a:off x="311700" y="574500"/>
            <a:ext cx="2808000" cy="75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100" b="1" dirty="0">
                <a:solidFill>
                  <a:schemeClr val="lt1"/>
                </a:solidFill>
                <a:latin typeface="Montserrat"/>
                <a:ea typeface="Montserrat"/>
                <a:cs typeface="Montserrat"/>
                <a:sym typeface="Montserrat"/>
              </a:rPr>
              <a:t>Kerberos</a:t>
            </a:r>
            <a:endParaRPr sz="2100" b="1" dirty="0">
              <a:solidFill>
                <a:schemeClr val="lt1"/>
              </a:solidFill>
              <a:latin typeface="Montserrat"/>
              <a:ea typeface="Montserrat"/>
              <a:cs typeface="Montserrat"/>
              <a:sym typeface="Montserrat"/>
            </a:endParaRPr>
          </a:p>
        </p:txBody>
      </p:sp>
      <p:sp>
        <p:nvSpPr>
          <p:cNvPr id="72" name="Google Shape;72;p15">
            <a:extLst>
              <a:ext uri="{FF2B5EF4-FFF2-40B4-BE49-F238E27FC236}">
                <a16:creationId xmlns:a16="http://schemas.microsoft.com/office/drawing/2014/main" id="{EB93386E-C2F9-73B9-CF25-31A26BF5DA48}"/>
              </a:ext>
            </a:extLst>
          </p:cNvPr>
          <p:cNvSpPr txBox="1">
            <a:spLocks noGrp="1"/>
          </p:cNvSpPr>
          <p:nvPr>
            <p:ph type="body" idx="1"/>
          </p:nvPr>
        </p:nvSpPr>
        <p:spPr>
          <a:xfrm>
            <a:off x="311700" y="1112762"/>
            <a:ext cx="2808000" cy="3456238"/>
          </a:xfrm>
          <a:prstGeom prst="rect">
            <a:avLst/>
          </a:prstGeom>
        </p:spPr>
        <p:txBody>
          <a:bodyPr spcFirstLastPara="1" wrap="square" lIns="91425" tIns="91425" rIns="91425" bIns="91425" anchor="t" anchorCtr="0">
            <a:normAutofit/>
          </a:bodyPr>
          <a:lstStyle/>
          <a:p>
            <a:pPr marL="0" indent="0">
              <a:spcAft>
                <a:spcPts val="1200"/>
              </a:spcAft>
              <a:buNone/>
            </a:pPr>
            <a:r>
              <a:rPr lang="es-MX" sz="1600" dirty="0">
                <a:solidFill>
                  <a:schemeClr val="lt1"/>
                </a:solidFill>
                <a:latin typeface="Montserrat"/>
                <a:ea typeface="Montserrat"/>
                <a:cs typeface="Montserrat"/>
                <a:sym typeface="Montserrat"/>
              </a:rPr>
              <a:t>El atacante puede realizar un ataque de </a:t>
            </a:r>
            <a:r>
              <a:rPr lang="es-MX" sz="1600" dirty="0" err="1">
                <a:solidFill>
                  <a:schemeClr val="lt1"/>
                </a:solidFill>
                <a:latin typeface="Montserrat"/>
                <a:ea typeface="Montserrat"/>
                <a:cs typeface="Montserrat"/>
                <a:sym typeface="Montserrat"/>
              </a:rPr>
              <a:t>relay</a:t>
            </a:r>
            <a:r>
              <a:rPr lang="es-MX" sz="1600" dirty="0">
                <a:solidFill>
                  <a:schemeClr val="lt1"/>
                </a:solidFill>
                <a:latin typeface="Montserrat"/>
                <a:ea typeface="Montserrat"/>
                <a:cs typeface="Montserrat"/>
                <a:sym typeface="Montserrat"/>
              </a:rPr>
              <a:t> NTLM después del </a:t>
            </a:r>
            <a:r>
              <a:rPr lang="es-MX" sz="1600" dirty="0" err="1">
                <a:solidFill>
                  <a:schemeClr val="lt1"/>
                </a:solidFill>
                <a:latin typeface="Montserrat"/>
                <a:ea typeface="Montserrat"/>
                <a:cs typeface="Montserrat"/>
                <a:sym typeface="Montserrat"/>
              </a:rPr>
              <a:t>poisoning</a:t>
            </a:r>
            <a:r>
              <a:rPr lang="es-MX" sz="1600" dirty="0">
                <a:solidFill>
                  <a:schemeClr val="lt1"/>
                </a:solidFill>
                <a:latin typeface="Montserrat"/>
                <a:ea typeface="Montserrat"/>
                <a:cs typeface="Montserrat"/>
                <a:sym typeface="Montserrat"/>
              </a:rPr>
              <a:t>. Esto hace que el usuario utilice las credenciales obtenidas y trate de hacer autenticación en otro servidor o servicio, sin necesidad de conocer la contraseña. </a:t>
            </a:r>
          </a:p>
        </p:txBody>
      </p:sp>
      <p:pic>
        <p:nvPicPr>
          <p:cNvPr id="73" name="Google Shape;73;p15">
            <a:extLst>
              <a:ext uri="{FF2B5EF4-FFF2-40B4-BE49-F238E27FC236}">
                <a16:creationId xmlns:a16="http://schemas.microsoft.com/office/drawing/2014/main" id="{C640BFA2-D781-160D-37A7-3DCA3425DF64}"/>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pic>
        <p:nvPicPr>
          <p:cNvPr id="2" name="Picture 1" descr="A diagram of a computer and a computer connected to a network&#10;&#10;AI-generated content may be incorrect.">
            <a:extLst>
              <a:ext uri="{FF2B5EF4-FFF2-40B4-BE49-F238E27FC236}">
                <a16:creationId xmlns:a16="http://schemas.microsoft.com/office/drawing/2014/main" id="{4F62B522-2B31-F1B4-61EC-55D2D7893FF7}"/>
              </a:ext>
            </a:extLst>
          </p:cNvPr>
          <p:cNvPicPr>
            <a:picLocks noChangeAspect="1"/>
          </p:cNvPicPr>
          <p:nvPr/>
        </p:nvPicPr>
        <p:blipFill>
          <a:blip r:embed="rId5"/>
          <a:stretch>
            <a:fillRect/>
          </a:stretch>
        </p:blipFill>
        <p:spPr>
          <a:xfrm>
            <a:off x="4572000" y="1225016"/>
            <a:ext cx="4253677" cy="2693468"/>
          </a:xfrm>
          <a:prstGeom prst="rect">
            <a:avLst/>
          </a:prstGeom>
        </p:spPr>
      </p:pic>
    </p:spTree>
    <p:extLst>
      <p:ext uri="{BB962C8B-B14F-4D97-AF65-F5344CB8AC3E}">
        <p14:creationId xmlns:p14="http://schemas.microsoft.com/office/powerpoint/2010/main" val="4176526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00F942B2-B195-4544-1895-8D26F441DD90}"/>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96B80745-71E9-83CD-46C1-373C221F158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lt1"/>
                </a:solidFill>
                <a:latin typeface="Montserrat"/>
                <a:ea typeface="Montserrat"/>
                <a:cs typeface="Montserrat"/>
                <a:sym typeface="Montserrat"/>
              </a:rPr>
              <a:t>LLMNR Poisoning  / NTLM Relay</a:t>
            </a:r>
          </a:p>
        </p:txBody>
      </p:sp>
      <p:sp>
        <p:nvSpPr>
          <p:cNvPr id="65" name="Google Shape;65;p14">
            <a:extLst>
              <a:ext uri="{FF2B5EF4-FFF2-40B4-BE49-F238E27FC236}">
                <a16:creationId xmlns:a16="http://schemas.microsoft.com/office/drawing/2014/main" id="{6FEC9EEE-9841-81DA-572C-630898FB0B1A}"/>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endParaRPr lang="es-MX" dirty="0">
              <a:solidFill>
                <a:schemeClr val="lt1"/>
              </a:solidFill>
              <a:latin typeface="Montserrat"/>
              <a:ea typeface="Montserrat"/>
              <a:cs typeface="Montserrat"/>
              <a:sym typeface="Montserrat"/>
            </a:endParaRPr>
          </a:p>
          <a:p>
            <a:pPr marL="0" indent="0">
              <a:spcAft>
                <a:spcPts val="1200"/>
              </a:spcAft>
              <a:buNone/>
            </a:pPr>
            <a:r>
              <a:rPr lang="es-MX" dirty="0">
                <a:solidFill>
                  <a:schemeClr val="lt1"/>
                </a:solidFill>
                <a:latin typeface="Montserrat"/>
                <a:ea typeface="Montserrat"/>
                <a:cs typeface="Montserrat"/>
                <a:sym typeface="Montserrat"/>
              </a:rPr>
              <a:t>    Deshabilitar LLMNR y NBNS</a:t>
            </a:r>
          </a:p>
          <a:p>
            <a:pPr marL="0" indent="0">
              <a:spcAft>
                <a:spcPts val="1200"/>
              </a:spcAft>
              <a:buNone/>
            </a:pPr>
            <a:r>
              <a:rPr lang="es-MX" dirty="0">
                <a:solidFill>
                  <a:schemeClr val="lt1"/>
                </a:solidFill>
                <a:latin typeface="Montserrat"/>
                <a:ea typeface="Montserrat"/>
                <a:cs typeface="Montserrat"/>
                <a:sym typeface="Montserrat"/>
              </a:rPr>
              <a:t>    Habilitar SMB </a:t>
            </a:r>
            <a:r>
              <a:rPr lang="es-MX" dirty="0" err="1">
                <a:solidFill>
                  <a:schemeClr val="lt1"/>
                </a:solidFill>
                <a:latin typeface="Montserrat"/>
                <a:ea typeface="Montserrat"/>
                <a:cs typeface="Montserrat"/>
                <a:sym typeface="Montserrat"/>
              </a:rPr>
              <a:t>Signing</a:t>
            </a:r>
            <a:endParaRPr lang="es-MX" dirty="0">
              <a:solidFill>
                <a:schemeClr val="lt1"/>
              </a:solidFill>
              <a:latin typeface="Montserrat"/>
              <a:ea typeface="Montserrat"/>
              <a:cs typeface="Montserrat"/>
              <a:sym typeface="Montserrat"/>
            </a:endParaRPr>
          </a:p>
          <a:p>
            <a:pPr marL="0" indent="0">
              <a:spcAft>
                <a:spcPts val="1200"/>
              </a:spcAft>
              <a:buNone/>
            </a:pPr>
            <a:r>
              <a:rPr lang="es-MX" dirty="0">
                <a:solidFill>
                  <a:schemeClr val="lt1"/>
                </a:solidFill>
                <a:latin typeface="Montserrat"/>
                <a:ea typeface="Montserrat"/>
                <a:cs typeface="Montserrat"/>
                <a:sym typeface="Montserrat"/>
              </a:rPr>
              <a:t>    Evitar uso NTLM, use alternativas como Kerberos.</a:t>
            </a:r>
          </a:p>
        </p:txBody>
      </p:sp>
      <p:pic>
        <p:nvPicPr>
          <p:cNvPr id="66" name="Google Shape;66;p14">
            <a:extLst>
              <a:ext uri="{FF2B5EF4-FFF2-40B4-BE49-F238E27FC236}">
                <a16:creationId xmlns:a16="http://schemas.microsoft.com/office/drawing/2014/main" id="{8267CF46-D60E-0937-534B-C17C765431AB}"/>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909471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CC9A1246-86AE-EAA2-AB9D-44474F0B57F1}"/>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F6FA234C-1A67-CB7C-B0F8-AC96DE5E7337}"/>
              </a:ext>
            </a:extLst>
          </p:cNvPr>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b="1" dirty="0">
                <a:solidFill>
                  <a:schemeClr val="lt1"/>
                </a:solidFill>
                <a:latin typeface="Montserrat"/>
                <a:ea typeface="Montserrat"/>
                <a:cs typeface="Montserrat"/>
                <a:sym typeface="Montserrat"/>
              </a:rPr>
              <a:t>Demo</a:t>
            </a:r>
          </a:p>
        </p:txBody>
      </p:sp>
      <p:pic>
        <p:nvPicPr>
          <p:cNvPr id="66" name="Google Shape;66;p14">
            <a:extLst>
              <a:ext uri="{FF2B5EF4-FFF2-40B4-BE49-F238E27FC236}">
                <a16:creationId xmlns:a16="http://schemas.microsoft.com/office/drawing/2014/main" id="{DEDA39D2-27F7-2934-E3E9-B637BF2D735A}"/>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1108191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89D42D8D-3CEA-5999-CCF5-A788F2C47C76}"/>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AB87D26A-F8DF-0F7A-C862-EB0A9A3E662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lt1"/>
                </a:solidFill>
                <a:latin typeface="Montserrat"/>
                <a:ea typeface="Montserrat"/>
                <a:cs typeface="Montserrat"/>
                <a:sym typeface="Montserrat"/>
              </a:rPr>
              <a:t> Active Directory Certificate Services (ADCS)</a:t>
            </a:r>
          </a:p>
        </p:txBody>
      </p:sp>
      <p:pic>
        <p:nvPicPr>
          <p:cNvPr id="66" name="Google Shape;66;p14">
            <a:extLst>
              <a:ext uri="{FF2B5EF4-FFF2-40B4-BE49-F238E27FC236}">
                <a16:creationId xmlns:a16="http://schemas.microsoft.com/office/drawing/2014/main" id="{DE5F0858-2591-AA78-0685-74B56BCEFAB4}"/>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E2C48988-8EB9-46AD-A6ED-4A4547E19F52}"/>
              </a:ext>
            </a:extLst>
          </p:cNvPr>
          <p:cNvSpPr>
            <a:spLocks noGrp="1"/>
          </p:cNvSpPr>
          <p:nvPr>
            <p:ph type="body" idx="1"/>
          </p:nvPr>
        </p:nvSpPr>
        <p:spPr>
          <a:xfrm>
            <a:off x="311700" y="1163160"/>
            <a:ext cx="3965176" cy="3416400"/>
          </a:xfrm>
        </p:spPr>
        <p:txBody>
          <a:bodyPr>
            <a:normAutofit lnSpcReduction="10000"/>
          </a:bodyPr>
          <a:lstStyle/>
          <a:p>
            <a:pPr marL="114300" indent="0">
              <a:buNone/>
            </a:pPr>
            <a:r>
              <a:rPr lang="es-MX" dirty="0">
                <a:solidFill>
                  <a:schemeClr val="bg1"/>
                </a:solidFill>
              </a:rPr>
              <a:t>Rol de Windows Server que permite crear, administrar y emitir certificados digitales en una red empresarial.</a:t>
            </a:r>
          </a:p>
          <a:p>
            <a:pPr>
              <a:buFontTx/>
              <a:buChar char="-"/>
            </a:pPr>
            <a:r>
              <a:rPr lang="es-MX" dirty="0">
                <a:solidFill>
                  <a:schemeClr val="bg1"/>
                </a:solidFill>
              </a:rPr>
              <a:t>Autenticación sin dependencia de contraseñas </a:t>
            </a:r>
          </a:p>
          <a:p>
            <a:pPr>
              <a:buFontTx/>
              <a:buChar char="-"/>
            </a:pPr>
            <a:r>
              <a:rPr lang="es-MX" dirty="0">
                <a:solidFill>
                  <a:schemeClr val="bg1"/>
                </a:solidFill>
              </a:rPr>
              <a:t>Inicio de sesión con Smart </a:t>
            </a:r>
            <a:r>
              <a:rPr lang="es-MX" dirty="0" err="1">
                <a:solidFill>
                  <a:schemeClr val="bg1"/>
                </a:solidFill>
              </a:rPr>
              <a:t>cards</a:t>
            </a:r>
            <a:r>
              <a:rPr lang="es-MX" dirty="0">
                <a:solidFill>
                  <a:schemeClr val="bg1"/>
                </a:solidFill>
              </a:rPr>
              <a:t> y MFA. (Autenticación de multi factor)</a:t>
            </a:r>
          </a:p>
          <a:p>
            <a:pPr>
              <a:buFontTx/>
              <a:buChar char="-"/>
            </a:pPr>
            <a:r>
              <a:rPr lang="en-US" dirty="0" err="1">
                <a:solidFill>
                  <a:schemeClr val="bg1"/>
                </a:solidFill>
              </a:rPr>
              <a:t>Gestionar</a:t>
            </a:r>
            <a:r>
              <a:rPr lang="en-US" dirty="0">
                <a:solidFill>
                  <a:schemeClr val="bg1"/>
                </a:solidFill>
              </a:rPr>
              <a:t> y </a:t>
            </a:r>
            <a:r>
              <a:rPr lang="en-US" dirty="0" err="1">
                <a:solidFill>
                  <a:schemeClr val="bg1"/>
                </a:solidFill>
              </a:rPr>
              <a:t>renovar</a:t>
            </a:r>
            <a:r>
              <a:rPr lang="en-US" dirty="0">
                <a:solidFill>
                  <a:schemeClr val="bg1"/>
                </a:solidFill>
              </a:rPr>
              <a:t> </a:t>
            </a:r>
            <a:r>
              <a:rPr lang="en-US" dirty="0" err="1">
                <a:solidFill>
                  <a:schemeClr val="bg1"/>
                </a:solidFill>
              </a:rPr>
              <a:t>certificados</a:t>
            </a:r>
            <a:r>
              <a:rPr lang="en-US" dirty="0">
                <a:solidFill>
                  <a:schemeClr val="bg1"/>
                </a:solidFill>
              </a:rPr>
              <a:t> de forma </a:t>
            </a:r>
            <a:r>
              <a:rPr lang="en-US" dirty="0" err="1">
                <a:solidFill>
                  <a:schemeClr val="bg1"/>
                </a:solidFill>
              </a:rPr>
              <a:t>centralizada</a:t>
            </a:r>
            <a:r>
              <a:rPr lang="en-US" dirty="0">
                <a:solidFill>
                  <a:schemeClr val="bg1"/>
                </a:solidFill>
              </a:rPr>
              <a:t>.</a:t>
            </a:r>
          </a:p>
        </p:txBody>
      </p:sp>
      <p:pic>
        <p:nvPicPr>
          <p:cNvPr id="5" name="Picture 4" descr="A diagram of a document&#10;&#10;AI-generated content may be incorrect.">
            <a:extLst>
              <a:ext uri="{FF2B5EF4-FFF2-40B4-BE49-F238E27FC236}">
                <a16:creationId xmlns:a16="http://schemas.microsoft.com/office/drawing/2014/main" id="{A627CB54-3436-DCC7-A69F-F7732DE83BD5}"/>
              </a:ext>
            </a:extLst>
          </p:cNvPr>
          <p:cNvPicPr>
            <a:picLocks noChangeAspect="1"/>
          </p:cNvPicPr>
          <p:nvPr/>
        </p:nvPicPr>
        <p:blipFill>
          <a:blip r:embed="rId5"/>
          <a:stretch>
            <a:fillRect/>
          </a:stretch>
        </p:blipFill>
        <p:spPr>
          <a:xfrm>
            <a:off x="4655088" y="1770850"/>
            <a:ext cx="4083049" cy="2201019"/>
          </a:xfrm>
          <a:prstGeom prst="rect">
            <a:avLst/>
          </a:prstGeom>
        </p:spPr>
      </p:pic>
    </p:spTree>
    <p:extLst>
      <p:ext uri="{BB962C8B-B14F-4D97-AF65-F5344CB8AC3E}">
        <p14:creationId xmlns:p14="http://schemas.microsoft.com/office/powerpoint/2010/main" val="456711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BB476370-EACC-4D85-E18B-77A1261DDE0C}"/>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F6BC5C2E-0C5D-7E2F-0FFC-4ACF4B0BF821}"/>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lt1"/>
                </a:solidFill>
                <a:latin typeface="Montserrat"/>
                <a:ea typeface="Montserrat"/>
                <a:cs typeface="Montserrat"/>
                <a:sym typeface="Montserrat"/>
              </a:rPr>
              <a:t> Active Directory Certificate Services (ADCS)</a:t>
            </a:r>
          </a:p>
        </p:txBody>
      </p:sp>
      <p:pic>
        <p:nvPicPr>
          <p:cNvPr id="66" name="Google Shape;66;p14">
            <a:extLst>
              <a:ext uri="{FF2B5EF4-FFF2-40B4-BE49-F238E27FC236}">
                <a16:creationId xmlns:a16="http://schemas.microsoft.com/office/drawing/2014/main" id="{50AF9B9B-9EAE-260C-1641-264B9C056D61}"/>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49470AA4-DA92-5349-4471-C66294789C93}"/>
              </a:ext>
            </a:extLst>
          </p:cNvPr>
          <p:cNvSpPr>
            <a:spLocks noGrp="1"/>
          </p:cNvSpPr>
          <p:nvPr>
            <p:ph type="body" idx="1"/>
          </p:nvPr>
        </p:nvSpPr>
        <p:spPr>
          <a:xfrm>
            <a:off x="311699" y="1163159"/>
            <a:ext cx="8693627" cy="3535315"/>
          </a:xfrm>
        </p:spPr>
        <p:txBody>
          <a:bodyPr>
            <a:normAutofit/>
          </a:bodyPr>
          <a:lstStyle/>
          <a:p>
            <a:pPr marL="114300" indent="0">
              <a:buNone/>
            </a:pPr>
            <a:r>
              <a:rPr lang="es-MX" dirty="0">
                <a:solidFill>
                  <a:schemeClr val="bg1"/>
                </a:solidFill>
              </a:rPr>
              <a:t>En el 2021, el equipo de </a:t>
            </a:r>
            <a:r>
              <a:rPr lang="es-MX" dirty="0" err="1">
                <a:solidFill>
                  <a:schemeClr val="bg1"/>
                </a:solidFill>
              </a:rPr>
              <a:t>Specter</a:t>
            </a:r>
            <a:r>
              <a:rPr lang="es-MX" dirty="0">
                <a:solidFill>
                  <a:schemeClr val="bg1"/>
                </a:solidFill>
              </a:rPr>
              <a:t> </a:t>
            </a:r>
            <a:r>
              <a:rPr lang="es-MX" dirty="0" err="1">
                <a:solidFill>
                  <a:schemeClr val="bg1"/>
                </a:solidFill>
              </a:rPr>
              <a:t>Ops</a:t>
            </a:r>
            <a:r>
              <a:rPr lang="es-MX" dirty="0">
                <a:solidFill>
                  <a:schemeClr val="bg1"/>
                </a:solidFill>
              </a:rPr>
              <a:t> lanza un </a:t>
            </a:r>
            <a:r>
              <a:rPr lang="es-MX" dirty="0" err="1">
                <a:solidFill>
                  <a:schemeClr val="bg1"/>
                </a:solidFill>
              </a:rPr>
              <a:t>whitepaper</a:t>
            </a:r>
            <a:r>
              <a:rPr lang="es-MX" dirty="0">
                <a:solidFill>
                  <a:schemeClr val="bg1"/>
                </a:solidFill>
              </a:rPr>
              <a:t> conteniendo muchas formas de ataques a este servicio de Active </a:t>
            </a:r>
            <a:r>
              <a:rPr lang="es-MX" dirty="0" err="1">
                <a:solidFill>
                  <a:schemeClr val="bg1"/>
                </a:solidFill>
              </a:rPr>
              <a:t>Directory</a:t>
            </a:r>
            <a:r>
              <a:rPr lang="es-MX" dirty="0">
                <a:solidFill>
                  <a:schemeClr val="bg1"/>
                </a:solidFill>
              </a:rPr>
              <a:t>. La que se muestra en esta guía es solo 1 de un grupo de familias de ataques.</a:t>
            </a:r>
          </a:p>
          <a:p>
            <a:pPr marL="114300" indent="0">
              <a:buNone/>
            </a:pPr>
            <a:endParaRPr lang="en-US" dirty="0">
              <a:solidFill>
                <a:schemeClr val="bg1"/>
              </a:solidFill>
            </a:endParaRPr>
          </a:p>
        </p:txBody>
      </p:sp>
      <p:pic>
        <p:nvPicPr>
          <p:cNvPr id="4" name="Picture 3" descr="A red person with black text&#10;&#10;AI-generated content may be incorrect.">
            <a:extLst>
              <a:ext uri="{FF2B5EF4-FFF2-40B4-BE49-F238E27FC236}">
                <a16:creationId xmlns:a16="http://schemas.microsoft.com/office/drawing/2014/main" id="{CE237145-8CB1-D18D-B9D8-87C2BE0AA2ED}"/>
              </a:ext>
            </a:extLst>
          </p:cNvPr>
          <p:cNvPicPr>
            <a:picLocks noChangeAspect="1"/>
          </p:cNvPicPr>
          <p:nvPr/>
        </p:nvPicPr>
        <p:blipFill>
          <a:blip r:embed="rId5"/>
          <a:stretch>
            <a:fillRect/>
          </a:stretch>
        </p:blipFill>
        <p:spPr>
          <a:xfrm>
            <a:off x="870283" y="2454838"/>
            <a:ext cx="7576457" cy="2149603"/>
          </a:xfrm>
          <a:prstGeom prst="rect">
            <a:avLst/>
          </a:prstGeom>
        </p:spPr>
      </p:pic>
    </p:spTree>
    <p:extLst>
      <p:ext uri="{BB962C8B-B14F-4D97-AF65-F5344CB8AC3E}">
        <p14:creationId xmlns:p14="http://schemas.microsoft.com/office/powerpoint/2010/main" val="390281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80DF6AB7-4C9A-B49C-88E7-2D5B74A47902}"/>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B3A150FB-50A3-B8A7-E69D-E032737D4512}"/>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lt1"/>
                </a:solidFill>
                <a:latin typeface="Montserrat"/>
                <a:ea typeface="Montserrat"/>
                <a:cs typeface="Montserrat"/>
                <a:sym typeface="Montserrat"/>
              </a:rPr>
              <a:t> Active Directory Certificate Services (ADCS)</a:t>
            </a:r>
          </a:p>
        </p:txBody>
      </p:sp>
      <p:pic>
        <p:nvPicPr>
          <p:cNvPr id="66" name="Google Shape;66;p14">
            <a:extLst>
              <a:ext uri="{FF2B5EF4-FFF2-40B4-BE49-F238E27FC236}">
                <a16:creationId xmlns:a16="http://schemas.microsoft.com/office/drawing/2014/main" id="{F2BAF152-215A-C7C0-CFB8-8EE24338770B}"/>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37483B2A-6B73-2D23-06FA-AFCEA41D7B59}"/>
              </a:ext>
            </a:extLst>
          </p:cNvPr>
          <p:cNvSpPr>
            <a:spLocks noGrp="1"/>
          </p:cNvSpPr>
          <p:nvPr>
            <p:ph type="body" idx="1"/>
          </p:nvPr>
        </p:nvSpPr>
        <p:spPr>
          <a:xfrm>
            <a:off x="311699" y="1163159"/>
            <a:ext cx="8693627" cy="3535315"/>
          </a:xfrm>
        </p:spPr>
        <p:txBody>
          <a:bodyPr>
            <a:normAutofit lnSpcReduction="10000"/>
          </a:bodyPr>
          <a:lstStyle/>
          <a:p>
            <a:pPr marL="114300" indent="0">
              <a:buNone/>
            </a:pPr>
            <a:endParaRPr lang="es-MX" dirty="0">
              <a:solidFill>
                <a:schemeClr val="bg1"/>
              </a:solidFill>
            </a:endParaRPr>
          </a:p>
          <a:p>
            <a:pPr marL="114300" indent="0">
              <a:buNone/>
            </a:pPr>
            <a:r>
              <a:rPr lang="es-MX" dirty="0">
                <a:solidFill>
                  <a:schemeClr val="bg1"/>
                </a:solidFill>
              </a:rPr>
              <a:t>    Restringir qué usuarios o grupos pueden solicitar certificados a partir de plantillas sensibles.</a:t>
            </a:r>
          </a:p>
          <a:p>
            <a:pPr marL="114300" indent="0">
              <a:buNone/>
            </a:pPr>
            <a:r>
              <a:rPr lang="es-MX" dirty="0">
                <a:solidFill>
                  <a:schemeClr val="bg1"/>
                </a:solidFill>
              </a:rPr>
              <a:t>    Restringir los permisos de inscripción: Asegurar que solo usuarios autorizados o cuentas de servicio puedan solicitar certificados utilizando los permisos de </a:t>
            </a:r>
            <a:r>
              <a:rPr lang="es-MX" dirty="0" err="1">
                <a:solidFill>
                  <a:schemeClr val="bg1"/>
                </a:solidFill>
              </a:rPr>
              <a:t>Enroll</a:t>
            </a:r>
            <a:r>
              <a:rPr lang="es-MX" dirty="0">
                <a:solidFill>
                  <a:schemeClr val="bg1"/>
                </a:solidFill>
              </a:rPr>
              <a:t> y </a:t>
            </a:r>
            <a:r>
              <a:rPr lang="es-MX" dirty="0" err="1">
                <a:solidFill>
                  <a:schemeClr val="bg1"/>
                </a:solidFill>
              </a:rPr>
              <a:t>AutoEnroll</a:t>
            </a:r>
            <a:r>
              <a:rPr lang="es-MX" dirty="0">
                <a:solidFill>
                  <a:schemeClr val="bg1"/>
                </a:solidFill>
              </a:rPr>
              <a:t>.</a:t>
            </a:r>
          </a:p>
          <a:p>
            <a:pPr marL="114300" indent="0">
              <a:buNone/>
            </a:pPr>
            <a:r>
              <a:rPr lang="es-MX" dirty="0">
                <a:solidFill>
                  <a:schemeClr val="bg1"/>
                </a:solidFill>
              </a:rPr>
              <a:t>    Habilitar el registro detallado de solicitudes y registros de certificados en la CA, asegurando que todas las operaciones de certificados, incluyendo emisión, renovación y revocación, sean registradas.</a:t>
            </a:r>
          </a:p>
          <a:p>
            <a:pPr marL="114300" indent="0">
              <a:buNone/>
            </a:pPr>
            <a:r>
              <a:rPr lang="es-MX" dirty="0">
                <a:solidFill>
                  <a:schemeClr val="bg1"/>
                </a:solidFill>
              </a:rPr>
              <a:t>    Revisar regularmente los registros para detectar inscripciones sospechosas de certificados.</a:t>
            </a:r>
          </a:p>
        </p:txBody>
      </p:sp>
    </p:spTree>
    <p:extLst>
      <p:ext uri="{BB962C8B-B14F-4D97-AF65-F5344CB8AC3E}">
        <p14:creationId xmlns:p14="http://schemas.microsoft.com/office/powerpoint/2010/main" val="540595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4931A689-94AF-7F37-DFFA-F2AB63083C0C}"/>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1BFD63D4-E6E9-C393-0912-D02CE9A45595}"/>
              </a:ext>
            </a:extLst>
          </p:cNvPr>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b="1" dirty="0">
                <a:solidFill>
                  <a:schemeClr val="lt1"/>
                </a:solidFill>
                <a:latin typeface="Montserrat"/>
                <a:ea typeface="Montserrat"/>
                <a:cs typeface="Montserrat"/>
                <a:sym typeface="Montserrat"/>
              </a:rPr>
              <a:t>Demo</a:t>
            </a:r>
          </a:p>
        </p:txBody>
      </p:sp>
      <p:pic>
        <p:nvPicPr>
          <p:cNvPr id="66" name="Google Shape;66;p14">
            <a:extLst>
              <a:ext uri="{FF2B5EF4-FFF2-40B4-BE49-F238E27FC236}">
                <a16:creationId xmlns:a16="http://schemas.microsoft.com/office/drawing/2014/main" id="{1F6D1AF7-52E1-890B-1D42-2FC28DEFDD9C}"/>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1027432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EB0AF4AF-84E7-F024-2ADE-20F4DC2A32C3}"/>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C9A6D7EE-6D4E-8269-8430-3DB1E7BCC3A2}"/>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err="1">
                <a:solidFill>
                  <a:schemeClr val="lt1"/>
                </a:solidFill>
                <a:latin typeface="Montserrat"/>
                <a:ea typeface="Montserrat"/>
                <a:cs typeface="Montserrat"/>
                <a:sym typeface="Montserrat"/>
              </a:rPr>
              <a:t>Abusos</a:t>
            </a:r>
            <a:r>
              <a:rPr lang="en-US" b="1" dirty="0">
                <a:solidFill>
                  <a:schemeClr val="lt1"/>
                </a:solidFill>
                <a:latin typeface="Montserrat"/>
                <a:ea typeface="Montserrat"/>
                <a:cs typeface="Montserrat"/>
                <a:sym typeface="Montserrat"/>
              </a:rPr>
              <a:t> de ACL</a:t>
            </a:r>
          </a:p>
        </p:txBody>
      </p:sp>
      <p:pic>
        <p:nvPicPr>
          <p:cNvPr id="66" name="Google Shape;66;p14">
            <a:extLst>
              <a:ext uri="{FF2B5EF4-FFF2-40B4-BE49-F238E27FC236}">
                <a16:creationId xmlns:a16="http://schemas.microsoft.com/office/drawing/2014/main" id="{61E49FF7-16DE-CCE1-AFB6-8455570F0FDC}"/>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B4D750BD-AF38-EABC-4DBA-075CF6C2E993}"/>
              </a:ext>
            </a:extLst>
          </p:cNvPr>
          <p:cNvSpPr>
            <a:spLocks noGrp="1"/>
          </p:cNvSpPr>
          <p:nvPr>
            <p:ph type="body" idx="1"/>
          </p:nvPr>
        </p:nvSpPr>
        <p:spPr>
          <a:xfrm>
            <a:off x="311700" y="1163159"/>
            <a:ext cx="8430738" cy="3535315"/>
          </a:xfrm>
        </p:spPr>
        <p:txBody>
          <a:bodyPr>
            <a:normAutofit/>
          </a:bodyPr>
          <a:lstStyle/>
          <a:p>
            <a:pPr marL="114300" indent="0">
              <a:buNone/>
            </a:pPr>
            <a:r>
              <a:rPr lang="es-MX" dirty="0">
                <a:solidFill>
                  <a:schemeClr val="bg1"/>
                </a:solidFill>
              </a:rPr>
              <a:t>Las </a:t>
            </a:r>
            <a:r>
              <a:rPr lang="es-MX" b="1" dirty="0">
                <a:solidFill>
                  <a:schemeClr val="bg1"/>
                </a:solidFill>
              </a:rPr>
              <a:t>Access Control </a:t>
            </a:r>
            <a:r>
              <a:rPr lang="es-MX" b="1" dirty="0" err="1">
                <a:solidFill>
                  <a:schemeClr val="bg1"/>
                </a:solidFill>
              </a:rPr>
              <a:t>Lists</a:t>
            </a:r>
            <a:r>
              <a:rPr lang="es-MX" b="1" dirty="0">
                <a:solidFill>
                  <a:schemeClr val="bg1"/>
                </a:solidFill>
              </a:rPr>
              <a:t> (</a:t>
            </a:r>
            <a:r>
              <a:rPr lang="es-MX" b="1" dirty="0" err="1">
                <a:solidFill>
                  <a:schemeClr val="bg1"/>
                </a:solidFill>
              </a:rPr>
              <a:t>ACLs</a:t>
            </a:r>
            <a:r>
              <a:rPr lang="es-MX" b="1" dirty="0">
                <a:solidFill>
                  <a:schemeClr val="bg1"/>
                </a:solidFill>
              </a:rPr>
              <a:t>)</a:t>
            </a:r>
            <a:r>
              <a:rPr lang="es-MX" dirty="0">
                <a:solidFill>
                  <a:schemeClr val="bg1"/>
                </a:solidFill>
              </a:rPr>
              <a:t> en Windows son listas que definen quién tiene acceso a qué recursos y con qué permisos. Se utilizan para controlar el acceso a archivos, carpetas, registros, objetos de Active </a:t>
            </a:r>
            <a:r>
              <a:rPr lang="es-MX" dirty="0" err="1">
                <a:solidFill>
                  <a:schemeClr val="bg1"/>
                </a:solidFill>
              </a:rPr>
              <a:t>Directory</a:t>
            </a:r>
            <a:r>
              <a:rPr lang="es-MX" dirty="0">
                <a:solidFill>
                  <a:schemeClr val="bg1"/>
                </a:solidFill>
              </a:rPr>
              <a:t> y otros recursos dentro del sistema operativo.</a:t>
            </a:r>
          </a:p>
          <a:p>
            <a:pPr marL="114300" indent="0">
              <a:buNone/>
            </a:pPr>
            <a:endParaRPr lang="es-MX" dirty="0">
              <a:solidFill>
                <a:schemeClr val="bg1"/>
              </a:solidFill>
            </a:endParaRPr>
          </a:p>
          <a:p>
            <a:pPr marL="114300" indent="0">
              <a:buNone/>
            </a:pPr>
            <a:endParaRPr lang="en-US" dirty="0">
              <a:solidFill>
                <a:schemeClr val="bg1"/>
              </a:solidFill>
            </a:endParaRPr>
          </a:p>
        </p:txBody>
      </p:sp>
      <p:pic>
        <p:nvPicPr>
          <p:cNvPr id="4" name="Picture 3" descr="Screens screenshot of a computer&#10;&#10;AI-generated content may be incorrect.">
            <a:extLst>
              <a:ext uri="{FF2B5EF4-FFF2-40B4-BE49-F238E27FC236}">
                <a16:creationId xmlns:a16="http://schemas.microsoft.com/office/drawing/2014/main" id="{5A01BEF3-3874-6D90-7F5B-3BBEE7D057B1}"/>
              </a:ext>
            </a:extLst>
          </p:cNvPr>
          <p:cNvPicPr>
            <a:picLocks noChangeAspect="1"/>
          </p:cNvPicPr>
          <p:nvPr/>
        </p:nvPicPr>
        <p:blipFill>
          <a:blip r:embed="rId5"/>
          <a:stretch>
            <a:fillRect/>
          </a:stretch>
        </p:blipFill>
        <p:spPr>
          <a:xfrm>
            <a:off x="2624306" y="2627360"/>
            <a:ext cx="3520075" cy="2296273"/>
          </a:xfrm>
          <a:prstGeom prst="rect">
            <a:avLst/>
          </a:prstGeom>
        </p:spPr>
      </p:pic>
    </p:spTree>
    <p:extLst>
      <p:ext uri="{BB962C8B-B14F-4D97-AF65-F5344CB8AC3E}">
        <p14:creationId xmlns:p14="http://schemas.microsoft.com/office/powerpoint/2010/main" val="2060028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C8F1ED3E-4094-901A-0B37-11FDA793D8C1}"/>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F45A304E-5660-4AC8-9B72-AC5B1668CCF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lt1"/>
                </a:solidFill>
                <a:latin typeface="Montserrat"/>
                <a:ea typeface="Montserrat"/>
                <a:cs typeface="Montserrat"/>
                <a:sym typeface="Montserrat"/>
              </a:rPr>
              <a:t>Shadow Credentials</a:t>
            </a:r>
          </a:p>
        </p:txBody>
      </p:sp>
      <p:pic>
        <p:nvPicPr>
          <p:cNvPr id="66" name="Google Shape;66;p14">
            <a:extLst>
              <a:ext uri="{FF2B5EF4-FFF2-40B4-BE49-F238E27FC236}">
                <a16:creationId xmlns:a16="http://schemas.microsoft.com/office/drawing/2014/main" id="{3D8DB256-B57F-2C17-C400-2493FEEBE8E3}"/>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AE5B5723-7FEC-296E-2859-803AD195E655}"/>
              </a:ext>
            </a:extLst>
          </p:cNvPr>
          <p:cNvSpPr>
            <a:spLocks noGrp="1"/>
          </p:cNvSpPr>
          <p:nvPr>
            <p:ph type="body" idx="1"/>
          </p:nvPr>
        </p:nvSpPr>
        <p:spPr>
          <a:xfrm>
            <a:off x="311700" y="1163159"/>
            <a:ext cx="8430738" cy="3535315"/>
          </a:xfrm>
        </p:spPr>
        <p:txBody>
          <a:bodyPr>
            <a:normAutofit/>
          </a:bodyPr>
          <a:lstStyle/>
          <a:p>
            <a:pPr marL="114300" indent="0">
              <a:buNone/>
            </a:pPr>
            <a:r>
              <a:rPr lang="es-MX" dirty="0">
                <a:solidFill>
                  <a:schemeClr val="bg1"/>
                </a:solidFill>
              </a:rPr>
              <a:t>Ocurre cuando el atacante tiene permisos de escritura (por ejemplo </a:t>
            </a:r>
            <a:r>
              <a:rPr lang="es-MX" dirty="0" err="1">
                <a:solidFill>
                  <a:schemeClr val="bg1"/>
                </a:solidFill>
              </a:rPr>
              <a:t>GenericWrite</a:t>
            </a:r>
            <a:r>
              <a:rPr lang="es-MX" dirty="0">
                <a:solidFill>
                  <a:schemeClr val="bg1"/>
                </a:solidFill>
              </a:rPr>
              <a:t> o </a:t>
            </a:r>
            <a:r>
              <a:rPr lang="es-MX" dirty="0" err="1">
                <a:solidFill>
                  <a:schemeClr val="bg1"/>
                </a:solidFill>
              </a:rPr>
              <a:t>GenericAll</a:t>
            </a:r>
            <a:r>
              <a:rPr lang="es-MX" dirty="0">
                <a:solidFill>
                  <a:schemeClr val="bg1"/>
                </a:solidFill>
              </a:rPr>
              <a:t>) sobre un objeto de usuario o equipo en AD​. En particular, la técnica apunta al atributo </a:t>
            </a:r>
            <a:r>
              <a:rPr lang="es-MX" dirty="0" err="1">
                <a:solidFill>
                  <a:schemeClr val="bg1"/>
                </a:solidFill>
              </a:rPr>
              <a:t>msDS-KeyCredentialLink</a:t>
            </a:r>
            <a:r>
              <a:rPr lang="es-MX" dirty="0">
                <a:solidFill>
                  <a:schemeClr val="bg1"/>
                </a:solidFill>
              </a:rPr>
              <a:t> de los objetos AD. Este atributo (introducido en AD 2016 para respaldar funciones como Windows </a:t>
            </a:r>
            <a:r>
              <a:rPr lang="es-MX" dirty="0" err="1">
                <a:solidFill>
                  <a:schemeClr val="bg1"/>
                </a:solidFill>
              </a:rPr>
              <a:t>Hello</a:t>
            </a:r>
            <a:r>
              <a:rPr lang="es-MX" dirty="0">
                <a:solidFill>
                  <a:schemeClr val="bg1"/>
                </a:solidFill>
              </a:rPr>
              <a:t> </a:t>
            </a:r>
            <a:r>
              <a:rPr lang="es-MX" dirty="0" err="1">
                <a:solidFill>
                  <a:schemeClr val="bg1"/>
                </a:solidFill>
              </a:rPr>
              <a:t>for</a:t>
            </a:r>
            <a:r>
              <a:rPr lang="es-MX" dirty="0">
                <a:solidFill>
                  <a:schemeClr val="bg1"/>
                </a:solidFill>
              </a:rPr>
              <a:t> Business) almacena claves públicas para autenticación mediante claves (certificados) asociadas a la cuenta​</a:t>
            </a:r>
            <a:endParaRPr lang="en-US" dirty="0">
              <a:solidFill>
                <a:schemeClr val="bg1"/>
              </a:solidFill>
            </a:endParaRPr>
          </a:p>
        </p:txBody>
      </p:sp>
    </p:spTree>
    <p:extLst>
      <p:ext uri="{BB962C8B-B14F-4D97-AF65-F5344CB8AC3E}">
        <p14:creationId xmlns:p14="http://schemas.microsoft.com/office/powerpoint/2010/main" val="736028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C2F47EF9-AD7E-ACB1-BD79-A2B9C218A328}"/>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AF41BC91-FA54-D178-2ABB-085D10E6224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lt1"/>
                </a:solidFill>
                <a:latin typeface="Montserrat"/>
                <a:ea typeface="Montserrat"/>
                <a:cs typeface="Montserrat"/>
                <a:sym typeface="Montserrat"/>
              </a:rPr>
              <a:t>Shadow Credentials</a:t>
            </a:r>
          </a:p>
        </p:txBody>
      </p:sp>
      <p:pic>
        <p:nvPicPr>
          <p:cNvPr id="66" name="Google Shape;66;p14">
            <a:extLst>
              <a:ext uri="{FF2B5EF4-FFF2-40B4-BE49-F238E27FC236}">
                <a16:creationId xmlns:a16="http://schemas.microsoft.com/office/drawing/2014/main" id="{43AAC5FD-5D61-C610-4B55-27D2DFAD0E22}"/>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4C75AD57-E00A-620D-517F-589E70465EB5}"/>
              </a:ext>
            </a:extLst>
          </p:cNvPr>
          <p:cNvSpPr>
            <a:spLocks noGrp="1"/>
          </p:cNvSpPr>
          <p:nvPr>
            <p:ph type="body" idx="1"/>
          </p:nvPr>
        </p:nvSpPr>
        <p:spPr>
          <a:xfrm>
            <a:off x="311700" y="1163159"/>
            <a:ext cx="8430738" cy="3535315"/>
          </a:xfrm>
        </p:spPr>
        <p:txBody>
          <a:bodyPr>
            <a:normAutofit/>
          </a:bodyPr>
          <a:lstStyle/>
          <a:p>
            <a:pPr marL="114300" indent="0">
              <a:buNone/>
            </a:pPr>
            <a:endParaRPr lang="es-MX" dirty="0">
              <a:solidFill>
                <a:schemeClr val="bg1"/>
              </a:solidFill>
            </a:endParaRPr>
          </a:p>
          <a:p>
            <a:pPr marL="114300" indent="0">
              <a:buNone/>
            </a:pPr>
            <a:r>
              <a:rPr lang="es-MX" dirty="0">
                <a:solidFill>
                  <a:schemeClr val="bg1"/>
                </a:solidFill>
              </a:rPr>
              <a:t>    Monitoreo constante de ACL en AD (</a:t>
            </a:r>
            <a:r>
              <a:rPr lang="es-MX" dirty="0" err="1">
                <a:solidFill>
                  <a:schemeClr val="bg1"/>
                </a:solidFill>
              </a:rPr>
              <a:t>BloodHound</a:t>
            </a:r>
            <a:r>
              <a:rPr lang="es-MX" dirty="0">
                <a:solidFill>
                  <a:schemeClr val="bg1"/>
                </a:solidFill>
              </a:rPr>
              <a:t> y </a:t>
            </a:r>
            <a:r>
              <a:rPr lang="es-MX" dirty="0" err="1">
                <a:solidFill>
                  <a:schemeClr val="bg1"/>
                </a:solidFill>
              </a:rPr>
              <a:t>PingCastle</a:t>
            </a:r>
            <a:r>
              <a:rPr lang="es-MX" dirty="0">
                <a:solidFill>
                  <a:schemeClr val="bg1"/>
                </a:solidFill>
              </a:rPr>
              <a:t> funcionan muy bien para realizar escaneos del Active </a:t>
            </a:r>
            <a:r>
              <a:rPr lang="es-MX" dirty="0" err="1">
                <a:solidFill>
                  <a:schemeClr val="bg1"/>
                </a:solidFill>
              </a:rPr>
              <a:t>Directory</a:t>
            </a:r>
            <a:r>
              <a:rPr lang="es-MX" dirty="0">
                <a:solidFill>
                  <a:schemeClr val="bg1"/>
                </a:solidFill>
              </a:rPr>
              <a:t> y ver los </a:t>
            </a:r>
            <a:r>
              <a:rPr lang="es-MX" dirty="0" err="1">
                <a:solidFill>
                  <a:schemeClr val="bg1"/>
                </a:solidFill>
              </a:rPr>
              <a:t>ACLs</a:t>
            </a:r>
            <a:r>
              <a:rPr lang="es-MX" dirty="0">
                <a:solidFill>
                  <a:schemeClr val="bg1"/>
                </a:solidFill>
              </a:rPr>
              <a:t> habilitados.)</a:t>
            </a:r>
          </a:p>
          <a:p>
            <a:pPr marL="114300" indent="0">
              <a:buNone/>
            </a:pPr>
            <a:r>
              <a:rPr lang="es-MX" dirty="0">
                <a:solidFill>
                  <a:schemeClr val="bg1"/>
                </a:solidFill>
              </a:rPr>
              <a:t>    Monitorear directamente cambios en el atributo `</a:t>
            </a:r>
            <a:r>
              <a:rPr lang="es-MX" dirty="0" err="1">
                <a:solidFill>
                  <a:schemeClr val="bg1"/>
                </a:solidFill>
              </a:rPr>
              <a:t>msDS-KeyCredentialLink</a:t>
            </a:r>
            <a:r>
              <a:rPr lang="es-MX" dirty="0">
                <a:solidFill>
                  <a:schemeClr val="bg1"/>
                </a:solidFill>
              </a:rPr>
              <a:t>`.</a:t>
            </a:r>
          </a:p>
        </p:txBody>
      </p:sp>
    </p:spTree>
    <p:extLst>
      <p:ext uri="{BB962C8B-B14F-4D97-AF65-F5344CB8AC3E}">
        <p14:creationId xmlns:p14="http://schemas.microsoft.com/office/powerpoint/2010/main" val="3515826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814EA46B-4931-9DBB-EDD9-F54471B28A94}"/>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9AA85250-CAB0-DDFB-7725-B22E5450A26A}"/>
              </a:ext>
            </a:extLst>
          </p:cNvPr>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b="1" dirty="0">
                <a:solidFill>
                  <a:schemeClr val="lt1"/>
                </a:solidFill>
                <a:latin typeface="Montserrat"/>
                <a:ea typeface="Montserrat"/>
                <a:cs typeface="Montserrat"/>
                <a:sym typeface="Montserrat"/>
              </a:rPr>
              <a:t>Demo</a:t>
            </a:r>
          </a:p>
        </p:txBody>
      </p:sp>
      <p:pic>
        <p:nvPicPr>
          <p:cNvPr id="66" name="Google Shape;66;p14">
            <a:extLst>
              <a:ext uri="{FF2B5EF4-FFF2-40B4-BE49-F238E27FC236}">
                <a16:creationId xmlns:a16="http://schemas.microsoft.com/office/drawing/2014/main" id="{CD8DBB14-A8B4-7AB8-1BF5-5271503F205F}"/>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2429484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A60F6A69-3270-1869-4529-69E64B1D9ED5}"/>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2136D636-9A7B-6A73-13CC-B5338628D731}"/>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err="1">
                <a:solidFill>
                  <a:schemeClr val="lt1"/>
                </a:solidFill>
                <a:latin typeface="Montserrat"/>
                <a:ea typeface="Montserrat"/>
                <a:cs typeface="Montserrat"/>
                <a:sym typeface="Montserrat"/>
              </a:rPr>
              <a:t>DCSync</a:t>
            </a:r>
            <a:endParaRPr lang="en-US" b="1" dirty="0">
              <a:solidFill>
                <a:schemeClr val="lt1"/>
              </a:solidFill>
              <a:latin typeface="Montserrat"/>
              <a:ea typeface="Montserrat"/>
              <a:cs typeface="Montserrat"/>
              <a:sym typeface="Montserrat"/>
            </a:endParaRPr>
          </a:p>
        </p:txBody>
      </p:sp>
      <p:pic>
        <p:nvPicPr>
          <p:cNvPr id="66" name="Google Shape;66;p14">
            <a:extLst>
              <a:ext uri="{FF2B5EF4-FFF2-40B4-BE49-F238E27FC236}">
                <a16:creationId xmlns:a16="http://schemas.microsoft.com/office/drawing/2014/main" id="{77D7837B-714E-DD40-07C4-4DE7BB1A38DB}"/>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D9A048AB-8780-C62A-5739-C2412876FE9F}"/>
              </a:ext>
            </a:extLst>
          </p:cNvPr>
          <p:cNvSpPr>
            <a:spLocks noGrp="1"/>
          </p:cNvSpPr>
          <p:nvPr>
            <p:ph type="body" idx="1"/>
          </p:nvPr>
        </p:nvSpPr>
        <p:spPr>
          <a:xfrm>
            <a:off x="311700" y="1163159"/>
            <a:ext cx="8430738" cy="3535315"/>
          </a:xfrm>
        </p:spPr>
        <p:txBody>
          <a:bodyPr>
            <a:normAutofit/>
          </a:bodyPr>
          <a:lstStyle/>
          <a:p>
            <a:pPr marL="114300" indent="0">
              <a:buNone/>
            </a:pPr>
            <a:r>
              <a:rPr lang="es-MX" dirty="0">
                <a:solidFill>
                  <a:schemeClr val="bg1"/>
                </a:solidFill>
              </a:rPr>
              <a:t>En un ataque </a:t>
            </a:r>
            <a:r>
              <a:rPr lang="es-MX" dirty="0" err="1">
                <a:solidFill>
                  <a:schemeClr val="bg1"/>
                </a:solidFill>
              </a:rPr>
              <a:t>DCSync</a:t>
            </a:r>
            <a:r>
              <a:rPr lang="es-MX" dirty="0">
                <a:solidFill>
                  <a:schemeClr val="bg1"/>
                </a:solidFill>
              </a:rPr>
              <a:t>, el atacante abusa de las funciones nativas de replicación de AD: esencialmente se hace pasar por un </a:t>
            </a:r>
            <a:r>
              <a:rPr lang="es-MX" dirty="0" err="1">
                <a:solidFill>
                  <a:schemeClr val="bg1"/>
                </a:solidFill>
              </a:rPr>
              <a:t>Domain</a:t>
            </a:r>
            <a:r>
              <a:rPr lang="es-MX" dirty="0">
                <a:solidFill>
                  <a:schemeClr val="bg1"/>
                </a:solidFill>
              </a:rPr>
              <a:t> </a:t>
            </a:r>
            <a:r>
              <a:rPr lang="es-MX" dirty="0" err="1">
                <a:solidFill>
                  <a:schemeClr val="bg1"/>
                </a:solidFill>
              </a:rPr>
              <a:t>Controller</a:t>
            </a:r>
            <a:r>
              <a:rPr lang="es-MX" dirty="0">
                <a:solidFill>
                  <a:schemeClr val="bg1"/>
                </a:solidFill>
              </a:rPr>
              <a:t> y solicita al controlador legitimo que le envíe los hashes de contraseñas de las cuentas. Esto se logra usando las llamadas de API al protocolo de replicación (MS-DRSR)</a:t>
            </a:r>
            <a:endParaRPr lang="en-US" dirty="0">
              <a:solidFill>
                <a:schemeClr val="bg1"/>
              </a:solidFill>
            </a:endParaRPr>
          </a:p>
        </p:txBody>
      </p:sp>
      <p:pic>
        <p:nvPicPr>
          <p:cNvPr id="4" name="Picture 3" descr="A diagram of a diagram of a phone&#10;&#10;AI-generated content may be incorrect.">
            <a:extLst>
              <a:ext uri="{FF2B5EF4-FFF2-40B4-BE49-F238E27FC236}">
                <a16:creationId xmlns:a16="http://schemas.microsoft.com/office/drawing/2014/main" id="{FCC43FBB-3F73-9572-E762-4514AEE15B87}"/>
              </a:ext>
            </a:extLst>
          </p:cNvPr>
          <p:cNvPicPr>
            <a:picLocks noChangeAspect="1"/>
          </p:cNvPicPr>
          <p:nvPr/>
        </p:nvPicPr>
        <p:blipFill>
          <a:blip r:embed="rId5"/>
          <a:stretch>
            <a:fillRect/>
          </a:stretch>
        </p:blipFill>
        <p:spPr>
          <a:xfrm>
            <a:off x="1959430" y="2571750"/>
            <a:ext cx="4557485" cy="2385559"/>
          </a:xfrm>
          <a:prstGeom prst="rect">
            <a:avLst/>
          </a:prstGeom>
        </p:spPr>
      </p:pic>
    </p:spTree>
    <p:extLst>
      <p:ext uri="{BB962C8B-B14F-4D97-AF65-F5344CB8AC3E}">
        <p14:creationId xmlns:p14="http://schemas.microsoft.com/office/powerpoint/2010/main" val="490874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B9CB0F72-60ED-AC7A-C0D4-CAF6806B562D}"/>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2A2F9C5D-1D8F-EE1C-0B4F-377381C75927}"/>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err="1">
                <a:solidFill>
                  <a:schemeClr val="lt1"/>
                </a:solidFill>
                <a:latin typeface="Montserrat"/>
                <a:ea typeface="Montserrat"/>
                <a:cs typeface="Montserrat"/>
                <a:sym typeface="Montserrat"/>
              </a:rPr>
              <a:t>DCSync</a:t>
            </a:r>
            <a:endParaRPr lang="en-US" b="1" dirty="0">
              <a:solidFill>
                <a:schemeClr val="lt1"/>
              </a:solidFill>
              <a:latin typeface="Montserrat"/>
              <a:ea typeface="Montserrat"/>
              <a:cs typeface="Montserrat"/>
              <a:sym typeface="Montserrat"/>
            </a:endParaRPr>
          </a:p>
        </p:txBody>
      </p:sp>
      <p:pic>
        <p:nvPicPr>
          <p:cNvPr id="66" name="Google Shape;66;p14">
            <a:extLst>
              <a:ext uri="{FF2B5EF4-FFF2-40B4-BE49-F238E27FC236}">
                <a16:creationId xmlns:a16="http://schemas.microsoft.com/office/drawing/2014/main" id="{E98683A5-C084-A499-1645-FB4C19685A8C}"/>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7931B59E-841D-2105-1ABC-E009B73F958C}"/>
              </a:ext>
            </a:extLst>
          </p:cNvPr>
          <p:cNvSpPr>
            <a:spLocks noGrp="1"/>
          </p:cNvSpPr>
          <p:nvPr>
            <p:ph type="body" idx="1"/>
          </p:nvPr>
        </p:nvSpPr>
        <p:spPr>
          <a:xfrm>
            <a:off x="311700" y="1163159"/>
            <a:ext cx="8430738" cy="3535315"/>
          </a:xfrm>
        </p:spPr>
        <p:txBody>
          <a:bodyPr>
            <a:normAutofit/>
          </a:bodyPr>
          <a:lstStyle/>
          <a:p>
            <a:pPr marL="114300" indent="0">
              <a:buNone/>
            </a:pPr>
            <a:endParaRPr lang="es-MX" dirty="0">
              <a:solidFill>
                <a:schemeClr val="bg1"/>
              </a:solidFill>
            </a:endParaRPr>
          </a:p>
          <a:p>
            <a:r>
              <a:rPr lang="es-MX" dirty="0">
                <a:solidFill>
                  <a:schemeClr val="bg1"/>
                </a:solidFill>
              </a:rPr>
              <a:t>Monitoreo eventos de </a:t>
            </a:r>
            <a:r>
              <a:rPr lang="es-MX" dirty="0" err="1">
                <a:solidFill>
                  <a:schemeClr val="bg1"/>
                </a:solidFill>
              </a:rPr>
              <a:t>replicacion</a:t>
            </a:r>
            <a:r>
              <a:rPr lang="es-MX" dirty="0">
                <a:solidFill>
                  <a:schemeClr val="bg1"/>
                </a:solidFill>
              </a:rPr>
              <a:t> de directorio (Observar eventos 4662)</a:t>
            </a:r>
          </a:p>
          <a:p>
            <a:r>
              <a:rPr lang="es-MX" dirty="0">
                <a:solidFill>
                  <a:schemeClr val="bg1"/>
                </a:solidFill>
              </a:rPr>
              <a:t>Limitar las cuentas con permisos de </a:t>
            </a:r>
            <a:r>
              <a:rPr lang="es-MX" dirty="0" err="1">
                <a:solidFill>
                  <a:schemeClr val="bg1"/>
                </a:solidFill>
              </a:rPr>
              <a:t>replicacion</a:t>
            </a:r>
            <a:r>
              <a:rPr lang="es-MX" dirty="0">
                <a:solidFill>
                  <a:schemeClr val="bg1"/>
                </a:solidFill>
              </a:rPr>
              <a:t>.</a:t>
            </a:r>
          </a:p>
          <a:p>
            <a:r>
              <a:rPr lang="es-MX" dirty="0">
                <a:solidFill>
                  <a:schemeClr val="bg1"/>
                </a:solidFill>
              </a:rPr>
              <a:t>Como práctica </a:t>
            </a:r>
            <a:r>
              <a:rPr lang="es-MX" dirty="0" err="1">
                <a:solidFill>
                  <a:schemeClr val="bg1"/>
                </a:solidFill>
              </a:rPr>
              <a:t>post-compromiso</a:t>
            </a:r>
            <a:r>
              <a:rPr lang="es-MX" dirty="0">
                <a:solidFill>
                  <a:schemeClr val="bg1"/>
                </a:solidFill>
              </a:rPr>
              <a:t>, si se sospecha que un atacante pudo hacer </a:t>
            </a:r>
            <a:r>
              <a:rPr lang="es-MX" dirty="0" err="1">
                <a:solidFill>
                  <a:schemeClr val="bg1"/>
                </a:solidFill>
              </a:rPr>
              <a:t>DCSync</a:t>
            </a:r>
            <a:r>
              <a:rPr lang="es-MX" dirty="0">
                <a:solidFill>
                  <a:schemeClr val="bg1"/>
                </a:solidFill>
              </a:rPr>
              <a:t>, todas las contraseñas de todos los usuarios deben considerarse comprometidas y restablecerse, incluyendo cambiar dos veces la contraseña de KRBTGT (para invalidar Golden Tickets)</a:t>
            </a:r>
          </a:p>
          <a:p>
            <a:pPr marL="114300" indent="0">
              <a:buNone/>
            </a:pPr>
            <a:endParaRPr lang="en-US" dirty="0">
              <a:solidFill>
                <a:schemeClr val="bg1"/>
              </a:solidFill>
            </a:endParaRPr>
          </a:p>
        </p:txBody>
      </p:sp>
    </p:spTree>
    <p:extLst>
      <p:ext uri="{BB962C8B-B14F-4D97-AF65-F5344CB8AC3E}">
        <p14:creationId xmlns:p14="http://schemas.microsoft.com/office/powerpoint/2010/main" val="905419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A0EC7B3F-89DB-0454-5DE8-CEAA0AEE92ED}"/>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E72B5CFB-54BA-9FCF-1D5D-E22030084467}"/>
              </a:ext>
            </a:extLst>
          </p:cNvPr>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b="1" dirty="0">
                <a:solidFill>
                  <a:schemeClr val="lt1"/>
                </a:solidFill>
                <a:latin typeface="Montserrat"/>
                <a:ea typeface="Montserrat"/>
                <a:cs typeface="Montserrat"/>
                <a:sym typeface="Montserrat"/>
              </a:rPr>
              <a:t>Demo</a:t>
            </a:r>
          </a:p>
        </p:txBody>
      </p:sp>
      <p:pic>
        <p:nvPicPr>
          <p:cNvPr id="66" name="Google Shape;66;p14">
            <a:extLst>
              <a:ext uri="{FF2B5EF4-FFF2-40B4-BE49-F238E27FC236}">
                <a16:creationId xmlns:a16="http://schemas.microsoft.com/office/drawing/2014/main" id="{0D919D14-6EC1-0F1F-AF08-51EE49DA8CA6}"/>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2887276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A24CF26B-AAD4-D442-F22A-AC5E1F8AC419}"/>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DD5F3085-5576-EB2A-B36B-B02F301337C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lt1"/>
                </a:solidFill>
                <a:latin typeface="Montserrat"/>
                <a:ea typeface="Montserrat"/>
                <a:cs typeface="Montserrat"/>
                <a:sym typeface="Montserrat"/>
              </a:rPr>
              <a:t>Golden Ticket</a:t>
            </a:r>
          </a:p>
        </p:txBody>
      </p:sp>
      <p:pic>
        <p:nvPicPr>
          <p:cNvPr id="66" name="Google Shape;66;p14">
            <a:extLst>
              <a:ext uri="{FF2B5EF4-FFF2-40B4-BE49-F238E27FC236}">
                <a16:creationId xmlns:a16="http://schemas.microsoft.com/office/drawing/2014/main" id="{D1DA995B-E3E4-92A6-B743-EEF906031841}"/>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BB24D9FB-B829-3099-01B3-3FBF812DD816}"/>
              </a:ext>
            </a:extLst>
          </p:cNvPr>
          <p:cNvSpPr>
            <a:spLocks noGrp="1"/>
          </p:cNvSpPr>
          <p:nvPr>
            <p:ph type="body" idx="1"/>
          </p:nvPr>
        </p:nvSpPr>
        <p:spPr>
          <a:xfrm>
            <a:off x="311700" y="1163159"/>
            <a:ext cx="8430738" cy="3535315"/>
          </a:xfrm>
        </p:spPr>
        <p:txBody>
          <a:bodyPr>
            <a:normAutofit/>
          </a:bodyPr>
          <a:lstStyle/>
          <a:p>
            <a:pPr marL="114300" indent="0">
              <a:buNone/>
            </a:pPr>
            <a:endParaRPr lang="es-MX" dirty="0">
              <a:solidFill>
                <a:schemeClr val="bg1"/>
              </a:solidFill>
            </a:endParaRPr>
          </a:p>
          <a:p>
            <a:pPr marL="114300" indent="0">
              <a:buNone/>
            </a:pPr>
            <a:r>
              <a:rPr lang="es-MX" dirty="0">
                <a:solidFill>
                  <a:schemeClr val="bg1"/>
                </a:solidFill>
              </a:rPr>
              <a:t>Un Golden Ticket es un tipo de ataque en el que el adversario falsifica un Ticket-</a:t>
            </a:r>
            <a:r>
              <a:rPr lang="es-MX" dirty="0" err="1">
                <a:solidFill>
                  <a:schemeClr val="bg1"/>
                </a:solidFill>
              </a:rPr>
              <a:t>Granting</a:t>
            </a:r>
            <a:r>
              <a:rPr lang="es-MX" dirty="0">
                <a:solidFill>
                  <a:schemeClr val="bg1"/>
                </a:solidFill>
              </a:rPr>
              <a:t> Ticket (TGT) de Kerberos utilizando la clave secreta del servicio </a:t>
            </a:r>
            <a:r>
              <a:rPr lang="es-MX" dirty="0" err="1">
                <a:solidFill>
                  <a:schemeClr val="bg1"/>
                </a:solidFill>
              </a:rPr>
              <a:t>krbtgt</a:t>
            </a:r>
            <a:r>
              <a:rPr lang="es-MX" dirty="0">
                <a:solidFill>
                  <a:schemeClr val="bg1"/>
                </a:solidFill>
              </a:rPr>
              <a:t> del dominio. Si un atacante logra obtener el hash de contraseña (NTLM hash) de la cuenta </a:t>
            </a:r>
            <a:r>
              <a:rPr lang="es-MX" dirty="0" err="1">
                <a:solidFill>
                  <a:schemeClr val="bg1"/>
                </a:solidFill>
              </a:rPr>
              <a:t>krbtgt</a:t>
            </a:r>
            <a:r>
              <a:rPr lang="es-MX" dirty="0">
                <a:solidFill>
                  <a:schemeClr val="bg1"/>
                </a:solidFill>
              </a:rPr>
              <a:t>, básicamente posee la “llave maestra” del sistema Kerberos del dominio.</a:t>
            </a:r>
            <a:endParaRPr lang="en-US" dirty="0">
              <a:solidFill>
                <a:schemeClr val="bg1"/>
              </a:solidFill>
            </a:endParaRPr>
          </a:p>
        </p:txBody>
      </p:sp>
      <p:pic>
        <p:nvPicPr>
          <p:cNvPr id="4" name="Picture 3" descr="A close up of a ticket&#10;&#10;AI-generated content may be incorrect.">
            <a:extLst>
              <a:ext uri="{FF2B5EF4-FFF2-40B4-BE49-F238E27FC236}">
                <a16:creationId xmlns:a16="http://schemas.microsoft.com/office/drawing/2014/main" id="{FBA1BE68-188E-C1FD-A97F-DE506A36F6EA}"/>
              </a:ext>
            </a:extLst>
          </p:cNvPr>
          <p:cNvPicPr>
            <a:picLocks noChangeAspect="1"/>
          </p:cNvPicPr>
          <p:nvPr/>
        </p:nvPicPr>
        <p:blipFill>
          <a:blip r:embed="rId5"/>
          <a:stretch>
            <a:fillRect/>
          </a:stretch>
        </p:blipFill>
        <p:spPr>
          <a:xfrm>
            <a:off x="3884991" y="2961232"/>
            <a:ext cx="3981752" cy="1882676"/>
          </a:xfrm>
          <a:prstGeom prst="rect">
            <a:avLst/>
          </a:prstGeom>
        </p:spPr>
      </p:pic>
    </p:spTree>
    <p:extLst>
      <p:ext uri="{BB962C8B-B14F-4D97-AF65-F5344CB8AC3E}">
        <p14:creationId xmlns:p14="http://schemas.microsoft.com/office/powerpoint/2010/main" val="14167576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03250E83-04E8-D015-556D-B68290108C90}"/>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EA518775-5C48-7ABE-88E3-D202DC21C03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b="1" dirty="0">
                <a:solidFill>
                  <a:schemeClr val="lt1"/>
                </a:solidFill>
                <a:latin typeface="Montserrat"/>
                <a:ea typeface="Montserrat"/>
                <a:cs typeface="Montserrat"/>
                <a:sym typeface="Montserrat"/>
              </a:rPr>
              <a:t>Golden Ticket</a:t>
            </a:r>
          </a:p>
        </p:txBody>
      </p:sp>
      <p:pic>
        <p:nvPicPr>
          <p:cNvPr id="66" name="Google Shape;66;p14">
            <a:extLst>
              <a:ext uri="{FF2B5EF4-FFF2-40B4-BE49-F238E27FC236}">
                <a16:creationId xmlns:a16="http://schemas.microsoft.com/office/drawing/2014/main" id="{571BF981-A8BA-ED97-A0CC-275ED77FDB3C}"/>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
        <p:nvSpPr>
          <p:cNvPr id="3" name="Text Placeholder 2">
            <a:extLst>
              <a:ext uri="{FF2B5EF4-FFF2-40B4-BE49-F238E27FC236}">
                <a16:creationId xmlns:a16="http://schemas.microsoft.com/office/drawing/2014/main" id="{31BAD099-2A03-334A-1985-259C5997B21B}"/>
              </a:ext>
            </a:extLst>
          </p:cNvPr>
          <p:cNvSpPr>
            <a:spLocks noGrp="1"/>
          </p:cNvSpPr>
          <p:nvPr>
            <p:ph type="body" idx="1"/>
          </p:nvPr>
        </p:nvSpPr>
        <p:spPr>
          <a:xfrm>
            <a:off x="311700" y="1163159"/>
            <a:ext cx="8430738" cy="3535315"/>
          </a:xfrm>
        </p:spPr>
        <p:txBody>
          <a:bodyPr>
            <a:normAutofit/>
          </a:bodyPr>
          <a:lstStyle/>
          <a:p>
            <a:pPr marL="114300" indent="0">
              <a:buNone/>
            </a:pPr>
            <a:endParaRPr lang="es-MX" dirty="0">
              <a:solidFill>
                <a:schemeClr val="bg1"/>
              </a:solidFill>
            </a:endParaRPr>
          </a:p>
          <a:p>
            <a:pPr marL="114300" indent="0">
              <a:buNone/>
            </a:pPr>
            <a:r>
              <a:rPr lang="es-MX" dirty="0">
                <a:solidFill>
                  <a:schemeClr val="bg1"/>
                </a:solidFill>
              </a:rPr>
              <a:t>Este ataque, por su naturaleza, solo se efectúa una vez se tiene todo el dominio comprometido. Por lo tanto, la mayoría de las medidas son de recuperación y detección.</a:t>
            </a:r>
          </a:p>
          <a:p>
            <a:pPr marL="114300" indent="0">
              <a:buNone/>
            </a:pPr>
            <a:endParaRPr lang="es-MX" dirty="0">
              <a:solidFill>
                <a:schemeClr val="bg1"/>
              </a:solidFill>
            </a:endParaRPr>
          </a:p>
          <a:p>
            <a:r>
              <a:rPr lang="es-MX" dirty="0">
                <a:solidFill>
                  <a:schemeClr val="bg1"/>
                </a:solidFill>
              </a:rPr>
              <a:t>Cambiar la contraseña de la cuenta KRBTGT dos veces seguidas.</a:t>
            </a:r>
          </a:p>
          <a:p>
            <a:r>
              <a:rPr lang="es-MX" dirty="0">
                <a:solidFill>
                  <a:schemeClr val="bg1"/>
                </a:solidFill>
              </a:rPr>
              <a:t>Rotar periódicamente KRBTGT, aunque esto puede ser muy complejo.</a:t>
            </a:r>
          </a:p>
          <a:p>
            <a:r>
              <a:rPr lang="es-MX" dirty="0">
                <a:solidFill>
                  <a:schemeClr val="bg1"/>
                </a:solidFill>
              </a:rPr>
              <a:t>Monitoreo de cuenta KRBTGT: esta no debe realizar </a:t>
            </a:r>
            <a:r>
              <a:rPr lang="es-MX" dirty="0" err="1">
                <a:solidFill>
                  <a:schemeClr val="bg1"/>
                </a:solidFill>
              </a:rPr>
              <a:t>login</a:t>
            </a:r>
            <a:r>
              <a:rPr lang="es-MX" dirty="0">
                <a:solidFill>
                  <a:schemeClr val="bg1"/>
                </a:solidFill>
              </a:rPr>
              <a:t> interactivo jamás, ni cambiar sus grupos a los que pertenece.</a:t>
            </a:r>
          </a:p>
        </p:txBody>
      </p:sp>
    </p:spTree>
    <p:extLst>
      <p:ext uri="{BB962C8B-B14F-4D97-AF65-F5344CB8AC3E}">
        <p14:creationId xmlns:p14="http://schemas.microsoft.com/office/powerpoint/2010/main" val="2400763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43473347-05A8-A535-26B9-4D4F2EC99CD8}"/>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38ACC8D9-C71E-9462-D302-53B9182247C6}"/>
              </a:ext>
            </a:extLst>
          </p:cNvPr>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b="1" dirty="0">
                <a:solidFill>
                  <a:schemeClr val="lt1"/>
                </a:solidFill>
                <a:latin typeface="Montserrat"/>
                <a:ea typeface="Montserrat"/>
                <a:cs typeface="Montserrat"/>
                <a:sym typeface="Montserrat"/>
              </a:rPr>
              <a:t>Demo</a:t>
            </a:r>
          </a:p>
        </p:txBody>
      </p:sp>
      <p:pic>
        <p:nvPicPr>
          <p:cNvPr id="66" name="Google Shape;66;p14">
            <a:extLst>
              <a:ext uri="{FF2B5EF4-FFF2-40B4-BE49-F238E27FC236}">
                <a16:creationId xmlns:a16="http://schemas.microsoft.com/office/drawing/2014/main" id="{D2160328-D4D5-F88D-9741-4884117F302B}"/>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17959995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a:extLst>
            <a:ext uri="{FF2B5EF4-FFF2-40B4-BE49-F238E27FC236}">
              <a16:creationId xmlns:a16="http://schemas.microsoft.com/office/drawing/2014/main" id="{E24B36F0-CAF9-2903-8731-CC456861947A}"/>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7542AB2C-A041-60E6-36D5-8BC21920B279}"/>
              </a:ext>
            </a:extLst>
          </p:cNvPr>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b="1" dirty="0">
                <a:solidFill>
                  <a:schemeClr val="lt1"/>
                </a:solidFill>
                <a:latin typeface="Montserrat"/>
                <a:ea typeface="Montserrat"/>
                <a:cs typeface="Montserrat"/>
                <a:sym typeface="Montserrat"/>
              </a:rPr>
              <a:t>¡Gracias!</a:t>
            </a:r>
          </a:p>
        </p:txBody>
      </p:sp>
      <p:pic>
        <p:nvPicPr>
          <p:cNvPr id="66" name="Google Shape;66;p14">
            <a:extLst>
              <a:ext uri="{FF2B5EF4-FFF2-40B4-BE49-F238E27FC236}">
                <a16:creationId xmlns:a16="http://schemas.microsoft.com/office/drawing/2014/main" id="{2F69430C-F0E7-A72E-9E78-90491F388D51}"/>
              </a:ext>
            </a:extLst>
          </p:cNvPr>
          <p:cNvPicPr preferRelativeResize="0"/>
          <p:nvPr/>
        </p:nvPicPr>
        <p:blipFill>
          <a:blip r:embed="rId4">
            <a:alphaModFix/>
          </a:blip>
          <a:stretch>
            <a:fillRect/>
          </a:stretch>
        </p:blipFill>
        <p:spPr>
          <a:xfrm>
            <a:off x="8098601" y="4821796"/>
            <a:ext cx="906726" cy="203675"/>
          </a:xfrm>
          <a:prstGeom prst="rect">
            <a:avLst/>
          </a:prstGeom>
          <a:noFill/>
          <a:ln>
            <a:noFill/>
          </a:ln>
        </p:spPr>
      </p:pic>
    </p:spTree>
    <p:extLst>
      <p:ext uri="{BB962C8B-B14F-4D97-AF65-F5344CB8AC3E}">
        <p14:creationId xmlns:p14="http://schemas.microsoft.com/office/powerpoint/2010/main" val="378155406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A4B76AFB2E9404CAF64A7384A639FA3" ma:contentTypeVersion="13" ma:contentTypeDescription="Crear nuevo documento." ma:contentTypeScope="" ma:versionID="dc8d40e408874271ec9ca033270ac00e">
  <xsd:schema xmlns:xsd="http://www.w3.org/2001/XMLSchema" xmlns:xs="http://www.w3.org/2001/XMLSchema" xmlns:p="http://schemas.microsoft.com/office/2006/metadata/properties" xmlns:ns2="a11ee1ed-c8e0-4e4a-b785-36ebbb448bf1" xmlns:ns3="3aadb461-cfb8-428a-936f-a5d55ba9a0cf" targetNamespace="http://schemas.microsoft.com/office/2006/metadata/properties" ma:root="true" ma:fieldsID="fa990c678f4ca59eea5150823b886839" ns2:_="" ns3:_="">
    <xsd:import namespace="a11ee1ed-c8e0-4e4a-b785-36ebbb448bf1"/>
    <xsd:import namespace="3aadb461-cfb8-428a-936f-a5d55ba9a0c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1ee1ed-c8e0-4e4a-b785-36ebbb448bf1"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16" nillable="true" ma:displayName="Taxonomy Catch All Column" ma:hidden="true" ma:list="{a53523b6-f254-4f35-bf49-3392c138b2ad}" ma:internalName="TaxCatchAll" ma:showField="CatchAllData" ma:web="a11ee1ed-c8e0-4e4a-b785-36ebbb448bf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aadb461-cfb8-428a-936f-a5d55ba9a0c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Etiquetas de imagen" ma:readOnly="false" ma:fieldId="{5cf76f15-5ced-4ddc-b409-7134ff3c332f}" ma:taxonomyMulti="true" ma:sspId="69f822de-bfb4-4ef2-b7a5-308a7cbeef11"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a11ee1ed-c8e0-4e4a-b785-36ebbb448bf1">
      <UserInfo>
        <DisplayName/>
        <AccountId xsi:nil="true"/>
        <AccountType/>
      </UserInfo>
    </SharedWithUsers>
    <lcf76f155ced4ddcb4097134ff3c332f xmlns="3aadb461-cfb8-428a-936f-a5d55ba9a0cf">
      <Terms xmlns="http://schemas.microsoft.com/office/infopath/2007/PartnerControls"/>
    </lcf76f155ced4ddcb4097134ff3c332f>
    <TaxCatchAll xmlns="a11ee1ed-c8e0-4e4a-b785-36ebbb448bf1" xsi:nil="true"/>
  </documentManagement>
</p:properties>
</file>

<file path=customXml/itemProps1.xml><?xml version="1.0" encoding="utf-8"?>
<ds:datastoreItem xmlns:ds="http://schemas.openxmlformats.org/officeDocument/2006/customXml" ds:itemID="{CF5F2917-0241-4A59-9871-95C023F497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1ee1ed-c8e0-4e4a-b785-36ebbb448bf1"/>
    <ds:schemaRef ds:uri="3aadb461-cfb8-428a-936f-a5d55ba9a0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2D54546-3AF3-4322-8501-0115CDA5D3E3}">
  <ds:schemaRefs>
    <ds:schemaRef ds:uri="http://schemas.microsoft.com/sharepoint/v3/contenttype/forms"/>
  </ds:schemaRefs>
</ds:datastoreItem>
</file>

<file path=customXml/itemProps3.xml><?xml version="1.0" encoding="utf-8"?>
<ds:datastoreItem xmlns:ds="http://schemas.openxmlformats.org/officeDocument/2006/customXml" ds:itemID="{A86C6D02-FB05-4D69-9E22-F7870DC1CF84}">
  <ds:schemaRefs>
    <ds:schemaRef ds:uri="http://schemas.microsoft.com/office/2006/metadata/properties"/>
    <ds:schemaRef ds:uri="http://schemas.microsoft.com/office/infopath/2007/PartnerControls"/>
    <ds:schemaRef ds:uri="a11ee1ed-c8e0-4e4a-b785-36ebbb448bf1"/>
    <ds:schemaRef ds:uri="3aadb461-cfb8-428a-936f-a5d55ba9a0cf"/>
  </ds:schemaRefs>
</ds:datastoreItem>
</file>

<file path=docProps/app.xml><?xml version="1.0" encoding="utf-8"?>
<Properties xmlns="http://schemas.openxmlformats.org/officeDocument/2006/extended-properties" xmlns:vt="http://schemas.openxmlformats.org/officeDocument/2006/docPropsVTypes">
  <TotalTime>237</TotalTime>
  <Words>1213</Words>
  <Application>Microsoft Office PowerPoint</Application>
  <PresentationFormat>On-screen Show (16:9)</PresentationFormat>
  <Paragraphs>100</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Montserrat Light</vt:lpstr>
      <vt:lpstr>Arial</vt:lpstr>
      <vt:lpstr>Montserrat</vt:lpstr>
      <vt:lpstr>Montserrat Medium</vt:lpstr>
      <vt:lpstr>Montserrat ExtraBold</vt:lpstr>
      <vt:lpstr>Simple Light</vt:lpstr>
      <vt:lpstr>Atacando &amp; Defendiendo Windows Active Directory </vt:lpstr>
      <vt:lpstr>Agradecimientos:</vt:lpstr>
      <vt:lpstr>Tecnicas y sus defensas 🛡️</vt:lpstr>
      <vt:lpstr>Active Directory</vt:lpstr>
      <vt:lpstr>Kerberos</vt:lpstr>
      <vt:lpstr>AS-REP Roasting </vt:lpstr>
      <vt:lpstr>AS-REP Roasting </vt:lpstr>
      <vt:lpstr>AS-REP Roasting</vt:lpstr>
      <vt:lpstr>Demo</vt:lpstr>
      <vt:lpstr>Kerberoasting</vt:lpstr>
      <vt:lpstr>Kerberoasting </vt:lpstr>
      <vt:lpstr>Demo</vt:lpstr>
      <vt:lpstr>LLMNR Poisoning</vt:lpstr>
      <vt:lpstr>Kerberos</vt:lpstr>
      <vt:lpstr>LLMNR Poisoning  / NTLM Relay</vt:lpstr>
      <vt:lpstr>Demo</vt:lpstr>
      <vt:lpstr> Active Directory Certificate Services (ADCS)</vt:lpstr>
      <vt:lpstr> Active Directory Certificate Services (ADCS)</vt:lpstr>
      <vt:lpstr> Active Directory Certificate Services (ADCS)</vt:lpstr>
      <vt:lpstr>Demo</vt:lpstr>
      <vt:lpstr>Abusos de ACL</vt:lpstr>
      <vt:lpstr>Shadow Credentials</vt:lpstr>
      <vt:lpstr>Shadow Credentials</vt:lpstr>
      <vt:lpstr>Demo</vt:lpstr>
      <vt:lpstr>DCSync</vt:lpstr>
      <vt:lpstr>DCSync</vt:lpstr>
      <vt:lpstr>Demo</vt:lpstr>
      <vt:lpstr>Golden Ticket</vt:lpstr>
      <vt:lpstr>Golden Ticket</vt:lpstr>
      <vt:lpstr>Demo</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Nelson Rafael Colón</dc:creator>
  <cp:lastModifiedBy>Nelson Rafael Colón</cp:lastModifiedBy>
  <cp:revision>6</cp:revision>
  <dcterms:modified xsi:type="dcterms:W3CDTF">2025-03-19T06:29:19Z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257300</vt:r8>
  </property>
  <property fmtid="{D5CDD505-2E9C-101B-9397-08002B2CF9AE}" pid="3" name="ContentTypeId">
    <vt:lpwstr>0x010100BA4B76AFB2E9404CAF64A7384A639FA3</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ies>
</file>